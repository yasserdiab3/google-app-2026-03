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06" y="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0058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4028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SafetyHub | ICAPP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7DD3FC"/>
                </a:solidFill>
                <a:latin typeface="Segoe UI"/>
              </a:defRPr>
            </a:pPr>
            <a:r>
              <a:t>العرض التقديمي المصور لمنظومة السلامة والصحة المهنية والبيئة (بيانات حية)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E2E8F0"/>
                </a:solidFill>
                <a:latin typeface="Segoe UI"/>
              </a:defRPr>
            </a:pPr>
            <a:r>
              <a:t>الشركة العالمية للإنتاج والتصنيع الزراعي (ICAPP) • توثيق ميداني مدعوم بأرقام وسجلات قاعدة البيانات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📊 1,654 تصريح عمل مسجل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📋 3,113 ملاحظة ميدانية موثقة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🏥 1,029 زيارة عيادة مسجلة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🔒 41,744 سجل تدقيق أمني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إدارة السلامة والصحة المهنية والبيئة — شركة ICAPP • تم التحديث ببيانات الإنتاج الحية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الأمان والمصادقة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بوابة تسجيل الدخول والأمان والمصادقة الثنائية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واجهة دخول آمنة متعددة اللغات مع تشفير تام وإدارة جلسات موثوقة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2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مميزات بوابة الدخول المعتمدة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تسجيل دخول آمن بالبريد المؤسسي مع تشفير SHA-256 لكلمات المرور.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دعم المصادقة الثنائية (2FA/MFA) عبر تطبيقات Authenticator المعتمدة.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إمكانية الدخول السريع برمز PIN للمشرفين الميدانيين لتوفير الوقت.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تبديل فوري بين اللغتين العربية والإنجليزية مع تعديل تلقائي للاتجاه (RTL/LTR).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حماية مشددة ضد محاولات الاختراق مع تسجيل كامل لـ 41,744 سجل تدقيق أمني.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الأمان: حماية سيبرانية مشددة تمنع أي وصول غير مصرح به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01_login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تسجيل وتدقيق 41,744 عملية أمنية في SecurityAuditLog.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توثيق 6,470 جلسة ونشاط مستخدم في UserActivityLog.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إدارة انتهاء الجلسات التلقائي وتشفير التوكنات السحابية.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لوحة القيادة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لوحة التحكم التنفيذية والمؤشرات اللحظية (KPIs)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نظرة شمولية فورية على مدار 24 ساعة لكافة مؤشرات وأنشطة السلامة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3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وظائف لوحة التحكم الرئيسية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بطاقات إحصائية لحظية: ساعات العمل الآمنة، التصاريح النشطة، ونسب الإغلاق.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متابعة 57 مؤشر أداء رئيسي للسلامة والصحة المهنية (Safety KPIs).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رسوم بيانية تفاعلية توضح التوزيع الجغرافي للمخاطر وتصنيفها الموقعي.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شريط التنبيهات الذكي لرصد الحالات الحرجة ومواعيد الفحوصات المنتهية.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أزرار وصول سريع لأكثر من 132 موقعاً وقسماً مسجلاً في النظام.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القيمة: رؤية بيانات فورية تدعم اتخاذ القرارات الوقائية الاستباقية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03_dashboard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متابعة 57 مؤشر أداء سلامة معتمد في SafetyPerformanceKPIs.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تغطية جغرافية تفصيلية لـ 132 موقع عمل في Form_Places.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تحديث حي للبيانات دون الحاجة لتحديث الصفحة يدوياً.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العمليات الحرجة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منظومة تصاريح العمل الإلكترونية (e-PTW)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إصدار واعتماد رقمي صارم للسيطرة الكاملة على الأعمال عالية الخطورة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4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دورة عمل تصاريح العمل الإلكترونية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إدارة وأرشفة 1,654 تصريح عمل إلكتروني فعلي و 1,941 حركة بسجل PTWRegistry.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شبكة اعتماد مكونة من 63 مسؤول توقيع معتمد و 29 مسؤول للمقاولين.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تغطية كاملة للأنشطة الخطرة: الساخن، الأماكن المغلقة، الارتفاعات، والعزل.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توقيعات إلكترونية مشفرة مع توليد رمز QR فريد للتفتيش الميداني السريع.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إغلاق نظامي مؤتمت مع التحقق من نظافة الموقع وإلغاء التصاريح عند الطوارئ.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النتيجة: 1,654 تصريح عمل رقمي تم تنفيذه دون أي حادث جسيم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04_ptw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1,654 تصريح عمل إلكتروني موثق في قاعدة بيانات PTW.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1,941 حركة وسجل تتبع في جدول PTWRegistry.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63 مسؤول توقيع داخلي + 29 مسؤول للمقاولين معتمدين.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الحوادث والتحقيقات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9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إدارة</a:t>
            </a:r>
            <a:r>
              <a:rPr dirty="0"/>
              <a:t> </a:t>
            </a:r>
            <a:r>
              <a:rPr dirty="0" err="1"/>
              <a:t>الحوادث</a:t>
            </a:r>
            <a:r>
              <a:rPr dirty="0"/>
              <a:t> </a:t>
            </a:r>
            <a:r>
              <a:rPr dirty="0" err="1"/>
              <a:t>وتحليل</a:t>
            </a:r>
            <a:r>
              <a:rPr dirty="0"/>
              <a:t> </a:t>
            </a:r>
            <a:r>
              <a:rPr dirty="0" err="1"/>
              <a:t>الأسباب</a:t>
            </a:r>
            <a:r>
              <a:rPr dirty="0"/>
              <a:t> </a:t>
            </a:r>
            <a:r>
              <a:rPr dirty="0" err="1"/>
              <a:t>الجذرية</a:t>
            </a:r>
            <a:r>
              <a:rPr dirty="0"/>
              <a:t> (RCA)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توثيق</a:t>
            </a:r>
            <a:r>
              <a:rPr dirty="0"/>
              <a:t> </a:t>
            </a:r>
            <a:r>
              <a:rPr dirty="0" err="1"/>
              <a:t>شامل</a:t>
            </a:r>
            <a:r>
              <a:rPr dirty="0"/>
              <a:t> </a:t>
            </a:r>
            <a:r>
              <a:rPr dirty="0" err="1"/>
              <a:t>ومنهجيات</a:t>
            </a:r>
            <a:r>
              <a:rPr dirty="0"/>
              <a:t> </a:t>
            </a:r>
            <a:r>
              <a:rPr dirty="0" err="1"/>
              <a:t>تحقيق</a:t>
            </a:r>
            <a:r>
              <a:rPr dirty="0"/>
              <a:t> </a:t>
            </a:r>
            <a:r>
              <a:rPr dirty="0" err="1"/>
              <a:t>عالمية</a:t>
            </a:r>
            <a:r>
              <a:rPr dirty="0"/>
              <a:t> </a:t>
            </a:r>
            <a:r>
              <a:rPr dirty="0" err="1"/>
              <a:t>تمنع</a:t>
            </a:r>
            <a:r>
              <a:rPr dirty="0"/>
              <a:t> </a:t>
            </a:r>
            <a:r>
              <a:rPr dirty="0" err="1"/>
              <a:t>تكرار</a:t>
            </a:r>
            <a:r>
              <a:rPr dirty="0"/>
              <a:t> </a:t>
            </a:r>
            <a:r>
              <a:rPr dirty="0" err="1"/>
              <a:t>الحوادث</a:t>
            </a:r>
            <a:r>
              <a:rPr dirty="0"/>
              <a:t> </a:t>
            </a:r>
            <a:r>
              <a:rPr dirty="0" err="1"/>
              <a:t>والإصابات</a:t>
            </a:r>
            <a:endParaRPr dirty="0"/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5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إجراءات</a:t>
            </a:r>
            <a:r>
              <a:rPr dirty="0"/>
              <a:t> </a:t>
            </a:r>
            <a:r>
              <a:rPr dirty="0" err="1"/>
              <a:t>التعامل</a:t>
            </a:r>
            <a:r>
              <a:rPr dirty="0"/>
              <a:t> </a:t>
            </a:r>
            <a:r>
              <a:rPr dirty="0" err="1"/>
              <a:t>مع</a:t>
            </a:r>
            <a:r>
              <a:rPr dirty="0"/>
              <a:t> </a:t>
            </a:r>
            <a:r>
              <a:rPr dirty="0" err="1"/>
              <a:t>الحوادث</a:t>
            </a:r>
            <a:r>
              <a:rPr dirty="0"/>
              <a:t> </a:t>
            </a:r>
            <a:r>
              <a:rPr dirty="0" err="1"/>
              <a:t>والتحقيق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تسجيل فوري للحوادث مع إرفاق الصور والأدلة وتصنيف شدة الإصابة.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أدوات تحقيق مدمجة: منهجية 'لماذا الخمسة' (5-Whys) ومخطط عظمة السمكة.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تحديد العوامل الجذرية: الإنسان، الآلة، البيئة، الطريقة، والمواد.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خطة إجراءات تصحيحية ووقائية (CAPA) مرتبطة بمسؤول وتاريخ إغلاق ملزم.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ربط سجل الحوادث المباشر مع سجل تتبع الإجراءات (262 إجراء مسجل).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الأثر: معالجة الأسباب العميقة لضمان عدم تكرار الحادث نهائياً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05_incidents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ربط مباشر بسجل المتابعة العام المكون من 262 إجراء (ATR).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تتبع الحوادث والإصابات الطبية المحولة لعيادة المصنع.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تقارير مطابقة لمعايير وزارة العمل والتأمينات الاجتماعية.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الوقاية الاستباقية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إدارة الحوادث الوشيكة (Near-Miss Reporting)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رصد الإشارات المبكرة ومعالجة الظروف الخطرة قبل تحولها لحوادث فعلية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6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95298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مميزات نظام الحوادث الوشيكة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شاشة</a:t>
            </a:r>
            <a:r>
              <a:rPr dirty="0"/>
              <a:t> </a:t>
            </a:r>
            <a:r>
              <a:rPr dirty="0" err="1"/>
              <a:t>إبلاغ</a:t>
            </a:r>
            <a:r>
              <a:rPr dirty="0"/>
              <a:t> </a:t>
            </a:r>
            <a:r>
              <a:rPr dirty="0" err="1"/>
              <a:t>مبسطة</a:t>
            </a:r>
            <a:r>
              <a:rPr dirty="0"/>
              <a:t> </a:t>
            </a:r>
            <a:r>
              <a:rPr dirty="0" err="1"/>
              <a:t>تمكن</a:t>
            </a:r>
            <a:r>
              <a:rPr dirty="0"/>
              <a:t> </a:t>
            </a:r>
            <a:r>
              <a:rPr dirty="0" err="1"/>
              <a:t>العمال</a:t>
            </a:r>
            <a:r>
              <a:rPr dirty="0"/>
              <a:t> </a:t>
            </a:r>
            <a:r>
              <a:rPr dirty="0" err="1"/>
              <a:t>من</a:t>
            </a:r>
            <a:r>
              <a:rPr dirty="0"/>
              <a:t> </a:t>
            </a:r>
            <a:r>
              <a:rPr dirty="0" err="1"/>
              <a:t>الإبلاغ</a:t>
            </a:r>
            <a:r>
              <a:rPr dirty="0"/>
              <a:t> </a:t>
            </a:r>
            <a:r>
              <a:rPr dirty="0" err="1"/>
              <a:t>السريع</a:t>
            </a:r>
            <a:r>
              <a:rPr dirty="0"/>
              <a:t> </a:t>
            </a:r>
            <a:r>
              <a:rPr dirty="0" err="1"/>
              <a:t>عبر</a:t>
            </a:r>
            <a:r>
              <a:rPr dirty="0"/>
              <a:t> </a:t>
            </a:r>
            <a:r>
              <a:rPr dirty="0" err="1"/>
              <a:t>الهاتف</a:t>
            </a:r>
            <a:r>
              <a:rPr dirty="0"/>
              <a:t>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تصنيف</a:t>
            </a:r>
            <a:r>
              <a:rPr dirty="0"/>
              <a:t> </a:t>
            </a:r>
            <a:r>
              <a:rPr dirty="0" err="1"/>
              <a:t>الخطر</a:t>
            </a:r>
            <a:r>
              <a:rPr dirty="0"/>
              <a:t> </a:t>
            </a:r>
            <a:r>
              <a:rPr dirty="0" err="1"/>
              <a:t>الكامن</a:t>
            </a:r>
            <a:r>
              <a:rPr dirty="0"/>
              <a:t> </a:t>
            </a:r>
            <a:r>
              <a:rPr dirty="0" err="1"/>
              <a:t>وتحديد</a:t>
            </a:r>
            <a:r>
              <a:rPr dirty="0"/>
              <a:t> </a:t>
            </a:r>
            <a:r>
              <a:rPr dirty="0" err="1"/>
              <a:t>أولويات</a:t>
            </a:r>
            <a:r>
              <a:rPr dirty="0"/>
              <a:t> </a:t>
            </a:r>
            <a:r>
              <a:rPr dirty="0" err="1"/>
              <a:t>المعالجة</a:t>
            </a:r>
            <a:r>
              <a:rPr dirty="0"/>
              <a:t> </a:t>
            </a:r>
            <a:r>
              <a:rPr dirty="0" err="1"/>
              <a:t>الفورية</a:t>
            </a:r>
            <a:r>
              <a:rPr dirty="0"/>
              <a:t> </a:t>
            </a:r>
            <a:r>
              <a:rPr dirty="0" err="1"/>
              <a:t>بالموقع</a:t>
            </a:r>
            <a:r>
              <a:rPr dirty="0"/>
              <a:t>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إمكانية</a:t>
            </a:r>
            <a:r>
              <a:rPr dirty="0"/>
              <a:t> </a:t>
            </a:r>
            <a:r>
              <a:rPr dirty="0" err="1"/>
              <a:t>الإبلاغ</a:t>
            </a:r>
            <a:r>
              <a:rPr dirty="0"/>
              <a:t> </a:t>
            </a:r>
            <a:r>
              <a:rPr dirty="0" err="1"/>
              <a:t>السري</a:t>
            </a:r>
            <a:r>
              <a:rPr dirty="0"/>
              <a:t> </a:t>
            </a:r>
            <a:r>
              <a:rPr dirty="0" err="1"/>
              <a:t>لتشجيع</a:t>
            </a:r>
            <a:r>
              <a:rPr dirty="0"/>
              <a:t> </a:t>
            </a:r>
            <a:r>
              <a:rPr dirty="0" err="1"/>
              <a:t>ثقافة</a:t>
            </a:r>
            <a:r>
              <a:rPr dirty="0"/>
              <a:t> </a:t>
            </a:r>
            <a:r>
              <a:rPr dirty="0" err="1"/>
              <a:t>الشفافية</a:t>
            </a:r>
            <a:r>
              <a:rPr dirty="0"/>
              <a:t> </a:t>
            </a:r>
            <a:r>
              <a:rPr dirty="0" err="1"/>
              <a:t>وكسر</a:t>
            </a:r>
            <a:r>
              <a:rPr dirty="0"/>
              <a:t> </a:t>
            </a:r>
            <a:r>
              <a:rPr dirty="0" err="1"/>
              <a:t>حاجز</a:t>
            </a:r>
            <a:r>
              <a:rPr dirty="0"/>
              <a:t> </a:t>
            </a:r>
            <a:r>
              <a:rPr dirty="0" err="1"/>
              <a:t>الخوف</a:t>
            </a:r>
            <a:r>
              <a:rPr dirty="0"/>
              <a:t>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تحليل</a:t>
            </a:r>
            <a:r>
              <a:rPr dirty="0"/>
              <a:t> </a:t>
            </a:r>
            <a:r>
              <a:rPr dirty="0" err="1"/>
              <a:t>تكرار</a:t>
            </a:r>
            <a:r>
              <a:rPr dirty="0"/>
              <a:t> </a:t>
            </a:r>
            <a:r>
              <a:rPr dirty="0" err="1"/>
              <a:t>المواقف</a:t>
            </a:r>
            <a:r>
              <a:rPr dirty="0"/>
              <a:t> </a:t>
            </a:r>
            <a:r>
              <a:rPr dirty="0" err="1"/>
              <a:t>الخطرة</a:t>
            </a:r>
            <a:r>
              <a:rPr dirty="0"/>
              <a:t> </a:t>
            </a:r>
            <a:r>
              <a:rPr dirty="0" err="1"/>
              <a:t>بالأقسام</a:t>
            </a:r>
            <a:r>
              <a:rPr dirty="0"/>
              <a:t> </a:t>
            </a:r>
            <a:r>
              <a:rPr dirty="0" err="1"/>
              <a:t>لتكثيف</a:t>
            </a:r>
            <a:r>
              <a:rPr dirty="0"/>
              <a:t> </a:t>
            </a:r>
            <a:r>
              <a:rPr dirty="0" err="1"/>
              <a:t>برامج</a:t>
            </a:r>
            <a:r>
              <a:rPr dirty="0"/>
              <a:t> </a:t>
            </a:r>
            <a:r>
              <a:rPr dirty="0" err="1"/>
              <a:t>الحماية</a:t>
            </a:r>
            <a:r>
              <a:rPr dirty="0"/>
              <a:t> </a:t>
            </a:r>
            <a:r>
              <a:rPr dirty="0" err="1"/>
              <a:t>الوقائية</a:t>
            </a:r>
            <a:r>
              <a:rPr dirty="0"/>
              <a:t>.</a:t>
            </a:r>
          </a:p>
          <a:p>
            <a:pPr algn="r" rtl="1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متابعة</a:t>
            </a:r>
            <a:r>
              <a:rPr dirty="0"/>
              <a:t> </a:t>
            </a:r>
            <a:r>
              <a:rPr dirty="0" err="1"/>
              <a:t>إغلاق</a:t>
            </a:r>
            <a:r>
              <a:rPr dirty="0"/>
              <a:t> </a:t>
            </a:r>
            <a:r>
              <a:rPr dirty="0" err="1"/>
              <a:t>كافة</a:t>
            </a:r>
            <a:r>
              <a:rPr dirty="0"/>
              <a:t> </a:t>
            </a:r>
            <a:r>
              <a:rPr dirty="0" err="1"/>
              <a:t>البلاغات</a:t>
            </a:r>
            <a:r>
              <a:rPr dirty="0"/>
              <a:t> </a:t>
            </a:r>
            <a:r>
              <a:rPr dirty="0" err="1"/>
              <a:t>بنسبة</a:t>
            </a:r>
            <a:r>
              <a:rPr dirty="0"/>
              <a:t> 100% </a:t>
            </a:r>
            <a:r>
              <a:rPr dirty="0" err="1"/>
              <a:t>بالتعاون</a:t>
            </a:r>
            <a:r>
              <a:rPr dirty="0"/>
              <a:t> </a:t>
            </a:r>
            <a:r>
              <a:rPr dirty="0" err="1"/>
              <a:t>مع</a:t>
            </a:r>
            <a:r>
              <a:rPr dirty="0"/>
              <a:t> </a:t>
            </a:r>
            <a:r>
              <a:rPr dirty="0" err="1"/>
              <a:t>مسؤولي</a:t>
            </a:r>
            <a:r>
              <a:rPr dirty="0"/>
              <a:t> </a:t>
            </a:r>
            <a:r>
              <a:rPr dirty="0" err="1"/>
              <a:t>المواقع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المبدأ: كل حادث وشيك يتم إغلاقه هو حادث جسيم تم منعه بنجاح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06_nearmiss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ربط بلاغات Near-Miss مباشرة مع مهام مسؤولي السلامة.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إمكانية إرفاق صورة مباشرة من كاميرا الهاتف المحمول.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تحليل استباقي يمنع تصاعد الأخطار البسيطة لأضرار بشرية.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الصحة المهنية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العيادة الطبية وبرامج الرعاية الصحية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سجلات طبية رقمية مشفرة ومتابعة دقيقة لصحة ولياقة الكوادر البشرية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7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خدمات موديول العيادة الطبية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تسجيل 1,029 زيارة طبية للعمال والمقاولين في ClinicContractorVisits.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توثيق 573 حركة صرف أدوية ومستلزمات في MedicationDispenseLog.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سجل حضور الأطباء والتمريض يضم 187 سجلاً في ClinicStaffAttendance.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إدارة الإجازات المرضية وساعات العمل الضائعة ومتابعة الحالات المزمنة.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الفحوصات الدورية للعاملين في خطوط تصنيع الأغذية والبيئات الكيميائية.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الرعاية: 1,029 زيارة و 573 صرف دواء موثقة بالكامل في النظام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07_clinic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1,029 زيارة فحص وعلاج موثقة في ClinicContractorVisits.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573 عملية صرف علاج موثقة في MedicationDispenseLog.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187 سجل حضور لفريق التمريض والعيادة الطبية.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مكافحة الحرائق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فحص معدات الحريق ومكافحة الطوارئ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جاهزية كاملة بنسبة 100% لكافة أجهزة وشبكات الإطفاء بالمنشأة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8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منظومة إدارة معدات الإطفاء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حصر وتسجيل 169 أصل ومعدة إطفاء مسجلة في جدول FireEquipmentAssets.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تنفيذ 26 دورة تفتيش دورية شاملة موثقة في FireEquipmentInspections.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فحص ميداني فائق السرعة عبر مسح رمز QR Code الخاص بكل جهاز إطفاء.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التحقق من ضغط العداد، سلامة الصمام، الخرطوم، وصلاحية بودرة الإطفاء.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تنبيهات استباقية لمواعيد إعادة التعبئة والاختبارات الهيدروستاتيكية الدورية.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الجاهزية: 169 معدة إطفاء مفحوصة وموزعة جغرافياً في المصنع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08_fire_equipment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169 أصل ومعدة إطفاء مسجلة في FireEquipmentAssets.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26 دورة فحص وتفتيش شاملة في FireEquipmentInspections.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جاهزية تامة وتوافق بنسبة 100% مع معايير الدفاع المدني.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المقاولين والشركاء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إدارة المقاولين، الزوار، وأمن البوابات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حوكمة العمليات الخارجية والسيطرة على حركة الدخول والخروج بأعلى أمان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9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إجراءات حوكمة المقاولين والزوار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تدريب وتأهيل 1,736 عامل مقاول موثقين في جدول ContractorTrainings.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معالجة 194 طلب اعتماد مقاولين و 56 طلب اعتماد تقييم أداء.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قائمة سوداء رقمية تضم 13 مقاولاً ومخالفاً غير ملتزم في Blacklist_Register.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تسجيل 29 حركة دخول زوار وشاحنات عبر البوابات في GateVisitors.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إحصائيات لحظية للأفراد المتواجدين داخل المنشأة لضمان الإخلاء الآمن.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الحوكمة: 1,736 عامل مقاول مدرب و 194 طلب اعتماد رسمي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09_contractors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1,736 عامل وفني مقاول تم تدريبهم واختبارهم بنجاح.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194 طلب اعتماد مقاول في ContractorApprovalRequests.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13 مخالف في القائمة السوداء لحماية بيئة العمل من التجاوزات.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مهمات الوقاية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إدارة مهمات الوقاية الشخصية (PPE) والمخزون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خط الدفاع الأخير لحماية العاملين مع ترشيد وحوكمة الصرف والاستهلاك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10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منظومة مهمات الوقاية الشخصية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إدارة 162 سجلاً لمهمات الوقاية و 105 حركة صرف في PPE_Transactions.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مصفوفة أهلية واستحقاق تغطي 12 قسماً ووظيفة في PPEMatrix.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تحديد العمر الافتراضي لكل مهمة ومنع الصرف المتكرر غير المبرر.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متابعة لحظية لرصيد مستودع مهمات الوقاية وتنبيهات إعادة الطلب.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توقيع إلكتروني للموظف على استلام المهمات وتعهده بارتدائها الإلزامي.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الترشيد: 162 صنف مهمات و 105 حركة صرف موثقة بالكامل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10_ppe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162 سجلاً لمهمات الوقاية في جدول PPE.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105 عملية صرف فردية ومجمعة في PPE_Transactions.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12 مصفوفة استحقاق مهنية في PPEMatrix و PPE_Eligibility_Rules.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المواد الخطرة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إدارة السلامة الكيميائية وصحائف الأمان (MSDS)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السيطرة الشاملة على الكيماويات والتخزين الآمن واحتواء الانسكابات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11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إجراءات السلامة الكيميائية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سجل مركزي للمواد الكيميائية مسجل في Chemical_Register مع أرقام CAS.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أرشفة رقمية لصحائف بيانات الأمان (MSDS) باللغتين لسرعة الرجوع إليها.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مصفوفة التوافق الكيميائي لمنع تخزين المواد المتفاعلة معاً في مكان واحد.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إرشادات واضحة للإسعافات الأولية ومهمات الوقاية الخاصة بكل مادة.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خطة احتواء الانسكابات وتأمين أحواض الاحتواء وأطقم المكافحة (Spill Kits).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الوقاية: حماية العمال والبيئة من مخاطر التسمم والحرائق الكيميائية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11_chemical_safety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حصر رسمي معتمد لكافة المواد الكيميائية في Chemical_Register.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الترميز التحذيري العالمي GHS على جميع العبوات والمخازن.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جاهزية كاملة لأطقم مكافحة الانسكاب ومحطات غسيل العيون.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التفتيش الدوري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الفحوصات الدورية للمعدات والمنشآت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صيانة وقائية دورية تضمن سلامة الآلات، الرافعات، والأنظمة الكهربائية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12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نطاق الفحوصات الدورية المجدولة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تنفيذ وتوثيق الفحوصات الدورية المجدولة في PeriodicEquipmentInspections.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قوائم فحص ذكية (Checklists) متوافقة مع الأكواد الهندسية المعتمدة.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إلزامية التقاط صور للأعطال والعيوب المرصودة أثناء التفتيش الميداني.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تحويل الملاحظات والعيوب تلقائياً إلى أوامر إصلاح فورية لفرق الصيانة.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سجل تاريخي لكل آلة يوضح سجل أعطالها وتكلفة صيانتها السابقة.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الموثوقية: تفتيش هندسي مستمر يحافظ على سلامة الأصول والمعدات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12_periodic_inspections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توثيق عمليات الفحص الدوري في PeriodicInspections.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فحص شامل لرافعات الشوكة، الغلايات، واللوحات الكهربائية.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إصدار أوامر صيانة وقائية آلية لمنع التوقفات غير المخططة.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الانضباط الميداني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إدارة مخالفات السلامة ولائحة الجزاءات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تطبيق عادل وصارم لقواعد السلامة لحماية بيئة العمل من السلوكيات الخاطئة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13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حوكمة تسجيل وتطبيق المخالفات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تسجيل 154 مخالفة سلامة ميدانية فعلية موثقة في جدول Violations.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معالجة 73 طلب اعتماد ومراجعة جزاءات في ViolationApprovalRequests.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تصنيف المخالفات وفق 36 نموذجاً ولائحة معتمدة في جدول ViolationTypes.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سلم جزاءات تصاعدي عادل: تنبيه شفهي -&gt; لفت نظر -&gt; إنذار -&gt; جزاء مالي.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ربط سجل المخالفات بنظام تقييم الأداء السنوي للموظفين والمقاولين.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الانضباط: 154 مخالفة مسجلة و 73 طلب مراجعة تم حسمها بعدالة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13_violations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154 مخالفة ميدانية موثقة بالكامل في جدول Violations.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73 طلب اعتماد إداري في ViolationApprovalRequests.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36 نوع وتصنيف معتمد للمخالفات في ViolationTypes.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إدارة المخاطر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تقييم المخاطر، مصفوفة 5x5، وتعليمات SOP/JHA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تحديد استباقي لكافة الأخطار وتطبيق هرم التحكم لمنع وقوع الإصابات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14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أدوات تقييم المخاطر المدمجة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مصفوفة تقييم المخاطر التفاعلية (5×5 Matrix) لحساب الاحتمالية والشدة.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التحقق من 40 وثيقة ومستند امتثال قانوني في جدول LegalDocuments.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تحليل سلامة الوظائف (JHA/JSA) بتفكيك المهام لخطوات وتحديد ضوابطها.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مكتبة إجراءات التشغيل القياسية (SOPs) لسلامة تشغيل كافة الآلات.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تطبيق هرم التحكم: الإزالة -&gt; الاستبدال -&gt; العزل الهندسي -&gt; الإداري -&gt; PPE.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الاستباق: السيطرة على مصادر الخطر والامتثال لـ 40 وثيقة قانونية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14_risk_assessment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40 وثيقة امتثال قانوني مسجلة في جدول LegalDocuments.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ربط مباشر بين تقييم المخاطر وتصاريح العمل الساخنة والمغلقة.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إرشادات مصورة وواضحة يسهل فهمها من قبل العمال في الميدان.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التدريب والتأهيل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إدارة التدريب والسلامة المعرفية للكوادر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بناء رأس المال البشري وترسيخ ثقافة الوعي بالسلامة لجميع المستويات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15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برامج التدريب والتأهيل المستمر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تنفيذ 439 دورة تدريبية داخلية موثقة في جدول Training.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تسجيل 1,027 حضور موظف وتدريب 1,736 عامل مقاول في ContractorTrainings.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مصفوفة تدريب تغطي 158 وظيفة وتخصص في EmployeeTrainingMatrix.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إصدار شهادات التدريب الرقمية مزودة برمز تحقق QR Code معتمد.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مكتبة محاضرات ما قبل العمل اليومية (Toolbox Talks - TBT) للمشرفين.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الكفاءة: 439 دورة تدريبية و 2,763 متدرب موثقين في السجلات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15_training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439 دورة تدريبية داخلية مسجلة في جدول Training.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1,027 حضور موظف في TrainingAttendance + 1,736 مقاول.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158 مصفوفة تدريب مهنية في EmployeeTrainingMatrix.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النماذج الميدانية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الملاحظات اليومية وبوابة النماذج (Forms Hub)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تمكين المشرفين والموظفين من الرصد الميداني السريع عبر الهاتف بدون إنترنت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16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بوابة النماذج الميدانية الميسرة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تسجيل وتوثيق 3,113 ملاحظة سلامة يومية في جدول DailyObservations.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إتمام وتوثيق 813 قائمة تفتيش يومية في DailySafetyCheckList.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واجهة مخصصة للهواتف الذكية تعمل بالكامل بدون إنترنت (Offline-First).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لوحة متابعة مركزية توضح الملاحظات المفتوحة والمغلقة ونسب الإنجاز.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إلزام المسؤول بإرفاق صورة الإجراء التصحيحي للتحقق قبل إغلاق الملاحظة.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المرونة: 3,113 ملاحظة و 813 قائمة فحص سُجلت ميدانياً بنجاح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16_forms_hub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3,113 ملاحظة سلامة مسجلة في DailyObservations.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813 قائمة فحص يومية مكتملة في DailySafetyCheckList.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عمل كامل في المناطق المعزولة بدون انقطاع مع مزامنة فورية.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الاستدامة والحوكمة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الاستدامة البيئية وإدارة التغيير والميزانية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أبعاد استراتيجية لحماية الموارد والتحكم في التغييرات وترشيد الإنفاق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17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أركان الاستدامة وإدارة التغيير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إدارة استهلاك الموارد: المياه، الكهرباء، والغاز الطبيعي بسجلات مخصصة.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حوكمة 13 صنفاً ونوعاً من المخلفات في WasteManagement_RegularWasteTyp.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إدارة طلبات التغيير التشغيلي في ChangeRequests لمنع المخاطر غير المدروسة.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متابعة بنود الميزانية وطلبات الشراء في SafetyBudgetPurchaseOrders.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تقارير استدامة معتمدة تدعم متطلبات التصدير للأسواق العالمية (EU Green Deal).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الاستدامة: حوكمة 13 صنف مخلفات وإدارة شاملة للمياه والكهرباء والغاز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17_sustainability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13 صنف مخلفات معتمد في WasteManagement_RegularWasteTyp.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سجلات دورية لاستهلاك الكهرباء والمياه والغاز الطبيعي.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إدارة طلبات التغيير التشغيلي في ChangeRequests.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الذكاء الاصطناعي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مساعد الذكاء الاصطناعي التوليدي (Gemini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تسخير أحدث نماذج الذكاء الاصطناعي لدعم اتخاذ القرار وتحليل الحوادث فورياً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18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إمكانات مساعد السلامة الذكي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تسجيل 101 استشارة وتحليل ذكي موثقة في جدول UserAILog.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مستشار سلامة افتراضي يقدم إجابات فورية وفق معايير OSHA و NFPA و ISO.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التحليل الذكي لتقارير الحوادث واستنباط الأسباب الجذرية واقتراح خطط CAPA.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توليد ومراجعة مسودات تقييم المخاطر (JHA) وإجراءات التشغيل القياسية.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صياغة خطط الطوارئ وسيناريوهات الإخلاء والتقارير التنفيذية بأسلوب احترافي.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الابتكار: 101 استشارة وتحليل ذكي نفذها محرك Gemini AI بنجاح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18_ai_assistant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101 عملية استشارة وتحليل مسجلة في UserAILog.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دعم كامل للمحادثة التفاعلية باللغة العربية والإنجليزية.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حماية وخصوصية تامة لبيانات وتقارير الشركة الداخلية.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الخاتمة والتواصل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972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ملخص الأثر التنفيذي وخاتمة العرض التقديمي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6692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شراكة دائمة نحو بيئة عمل آمنة، مستدامة، وخالية من الحوادث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19 من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أبرز مكتسبات تطبيق SafetyHub بالأرقام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1,654 تصريح عمل رقمي تم إنجازه بنسبة حوكمة 100% وبلا أوراق.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3,113 ملاحظة ميدانية و 813 قائمة فحص عولجت عبر الهواتف الذكية.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تدريب 2,763 عاملاً ومقاولاً لترسيخ ثقافة السلامة الاستباقية.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متابعة وإغلاق 262 إجراءً تصحيحياً في سجل المتابعة الموحد (ATR).</a:t>
            </a:r>
          </a:p>
          <a:p>
            <a:pPr algn="r">
              <a:spcAft>
                <a:spcPts val="600"/>
              </a:spcAft>
              <a:defRPr sz="1080">
                <a:solidFill>
                  <a:srgbClr val="0F172A"/>
                </a:solidFill>
                <a:latin typeface="Segoe UI"/>
              </a:defRPr>
            </a:pPr>
            <a:r>
              <a:t>• تأمين كامل للمنشأة مدعوم بـ 41,744 سجل تدقيق أمني وحماية سيبرانية.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760720"/>
            <a:ext cx="4937760" cy="384048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0A2540"/>
                </a:solidFill>
                <a:latin typeface="Segoe UI"/>
              </a:defRPr>
            </a:pPr>
            <a:r>
              <a:t>الخاتمة: SafetyHub | ICAPP — المنظومة الرائدة للسلامة والصحة والبيئة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18872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1188720"/>
            <a:ext cx="5303520" cy="34747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122529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0F2FE"/>
                </a:solidFill>
                <a:latin typeface="Segoe UI"/>
              </a:defRPr>
            </a:pPr>
            <a:r>
              <a:t>🖥️ لقطة شاشة حية من النظام الفعلي</a:t>
            </a:r>
          </a:p>
        </p:txBody>
      </p:sp>
      <p:pic>
        <p:nvPicPr>
          <p:cNvPr id="19" name="Picture 18" descr="03_dashboard_reali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5029200" cy="3154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4864607"/>
            <a:ext cx="5029200" cy="12618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r">
              <a:spcAft>
                <a:spcPts val="200"/>
              </a:spcAft>
              <a:defRPr sz="1000" b="1">
                <a:solidFill>
                  <a:srgbClr val="0A2540"/>
                </a:solidFill>
                <a:latin typeface="Segoe UI"/>
              </a:defRPr>
            </a:pPr>
            <a:r>
              <a:t>📊 أرقام وحقائق حية من قاعدة بيانات النظام: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مسؤول النظام: م. ياسر دياب (Yasser Diab).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البريد الإلكتروني: Yasser.diab@icapp.com.eg</a:t>
            </a:r>
          </a:p>
          <a:p>
            <a:pPr algn="r">
              <a:defRPr sz="919">
                <a:solidFill>
                  <a:srgbClr val="0F172A"/>
                </a:solidFill>
                <a:latin typeface="Segoe UI"/>
              </a:defRPr>
            </a:pPr>
            <a:r>
              <a:t>✔ دعم فني مباشر وتطوير مستمر بالتعاون مع HSEHub360.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2900</Words>
  <Application>Microsoft Office PowerPoint</Application>
  <PresentationFormat>Widescreen</PresentationFormat>
  <Paragraphs>296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Yasser Mohamed</cp:lastModifiedBy>
  <cp:revision>2</cp:revision>
  <dcterms:created xsi:type="dcterms:W3CDTF">2013-01-27T09:14:16Z</dcterms:created>
  <dcterms:modified xsi:type="dcterms:W3CDTF">2026-09-23T19:19:08Z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2026-09-23T19:19:06Z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0d3b1b3a-df15-4931-92d1-5a54ad610f2f</vt:lpwstr>
  </property>
  <property fmtid="{D5CDD505-2E9C-101B-9397-08002B2CF9AE}" pid="7" name="MSIP_Label_defa4170-0d19-0005-0004-bc88714345d2_ActionId">
    <vt:lpwstr>e3c88516-0404-4076-88a7-36888f6ecfd6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