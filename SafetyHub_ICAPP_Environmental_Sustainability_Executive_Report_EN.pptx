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905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00584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40280"/>
            <a:ext cx="103628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ICAPP Environmental Sustainability &amp; ESG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7F3D0"/>
                </a:solidFill>
                <a:latin typeface="Segoe UI"/>
              </a:defRPr>
            </a:pPr>
            <a:r>
              <a:t>Executive ESG Stewardship, Resource Governance &amp; Client Assurance Report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>
                <a:solidFill>
                  <a:srgbClr val="D5E5DF"/>
                </a:solidFill>
                <a:latin typeface="Segoe UI"/>
              </a:defRPr>
            </a:pPr>
            <a:r>
              <a:t>International Company for Agricultural Production &amp; Processing (ICAPP) • Powered by SafetyHub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63440"/>
            <a:ext cx="2468880" cy="502920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🌿 ISO 14001:2015 &amp; 50001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663440"/>
            <a:ext cx="2468880" cy="502920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💧 Water Stewardship Leader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663440"/>
            <a:ext cx="2468880" cy="502920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♻️ 13-Stream Circular Waste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4663440"/>
            <a:ext cx="2468880" cy="502920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📈 Real-Time Digital Metering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7A73"/>
                </a:solidFill>
                <a:latin typeface="Segoe UI"/>
              </a:defRPr>
            </a:pPr>
            <a:r>
              <a:t>Prepared for ICAPP Executive Leadership, International Retailers, &amp; ESG Compliance Auditors ©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743200" cy="292608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A7F3D0"/>
                </a:solidFill>
                <a:latin typeface="Segoe UI"/>
              </a:defRPr>
            </a:pPr>
            <a:r>
              <a:t>Strategic ESG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Corporate Sustainability Vision &amp; Global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6692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D1E7E1"/>
                </a:solidFill>
                <a:latin typeface="Segoe UI"/>
              </a:defRPr>
            </a:pPr>
            <a:r>
              <a:t>Driving agricultural excellence through decarbonization, circularity, and resource stewardship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5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07A73"/>
                </a:solidFill>
                <a:latin typeface="Segoe UI"/>
              </a:defRPr>
            </a:pPr>
            <a:r>
              <a:t>ICAPP Corporate Sustainability &amp; ESG Report  •  SafetyHub Environmental Platform  •  Slide 2 of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Strategic ESG Pillars &amp; Global Frameworks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Full alignment with UN Sustainable Development Goals: Clean Water (SDG 6), Affordable Energy (SDG 7), Responsible Consumption (SDG 12), and Climate Action (SDG 13).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Compliance with EU Green Deal and European Deforestation &amp; Due Diligence regulations for high-volume agricultural food exports.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Science-based decarbonization pathways aimed at minimizing Scope 1 &amp; 2 carbon footprints across farming and industrial food processing operations.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100% paperless environmental governance integrated into the SafetyHub digital ecosystem.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Transparent stakeholder disclosure providing verified third-party audit evidence for global retail clients.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332B"/>
                </a:solidFill>
                <a:latin typeface="Segoe UI"/>
              </a:defRPr>
            </a:pPr>
            <a:r>
              <a:t>Vision: Setting the national benchmark for sustainable agri-food manufacturing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F3D0"/>
                </a:solidFill>
                <a:latin typeface="Segoe UI"/>
              </a:defRPr>
            </a:pPr>
            <a:r>
              <a:t>🌿 Live Environmental Platform Screenshot (SafetyHub)</a:t>
            </a:r>
          </a:p>
        </p:txBody>
      </p:sp>
      <p:pic>
        <p:nvPicPr>
          <p:cNvPr id="19" name="Picture 18" descr="sus_main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5FAF8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D332B"/>
                </a:solidFill>
                <a:latin typeface="Segoe UI"/>
              </a:defRPr>
            </a:pPr>
            <a:r>
              <a:t>📊 Key Verified Performance Metrics &amp; Targets: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ISO 14001:2015 Environmental Management System certified.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Zero-Waste-to-Landfill initiative covering agricultural by-products.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Continuous 24/7 automated resource monitoring across processing plants.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743200" cy="292608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A7F3D0"/>
                </a:solidFill>
                <a:latin typeface="Segoe UI"/>
              </a:defRPr>
            </a:pPr>
            <a:r>
              <a:t>Digital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SafetyHub Digital Environmental Platform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6692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D1E7E1"/>
                </a:solidFill>
                <a:latin typeface="Segoe UI"/>
              </a:defRPr>
            </a:pPr>
            <a:r>
              <a:t>Enterprise cloud architecture ensuring automated sub-metering, variance detection, and auditability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5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07A73"/>
                </a:solidFill>
                <a:latin typeface="Segoe UI"/>
              </a:defRPr>
            </a:pPr>
            <a:r>
              <a:t>ICAPP Corporate Sustainability &amp; ESG Report  •  SafetyHub Environmental Platform  •  Slide 3 of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Digital Platform 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Sub-metered data ingestion: Real-time logging of water intake, electrical power panels, and natural gas boiler feeds.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Smart automated threshold alerts: Configured to flag any consumption spike exceeding 120% of normalized baseline.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Standardized monthly limits governed by executive limits: Water (10,000 m³), Electricity (50,000 kWh), and Gas (30,000 m³).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Centralized immutable audit logs preventing retroactive modification of environmental compliance records.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Instant one-click ESG reporting exporting audit-grade PDF and Excel analytics for international buyer audits.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332B"/>
                </a:solidFill>
                <a:latin typeface="Segoe UI"/>
              </a:defRPr>
            </a:pPr>
            <a:r>
              <a:t>Technology: Real-time data integrity replacing vulnerable paper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F3D0"/>
                </a:solidFill>
                <a:latin typeface="Segoe UI"/>
              </a:defRPr>
            </a:pPr>
            <a:r>
              <a:t>🌿 Live Environmental Platform Screenshot (SafetyHub)</a:t>
            </a:r>
          </a:p>
        </p:txBody>
      </p:sp>
      <p:pic>
        <p:nvPicPr>
          <p:cNvPr id="19" name="Picture 18" descr="sus_main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5FAF8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D332B"/>
                </a:solidFill>
                <a:latin typeface="Segoe UI"/>
              </a:defRPr>
            </a:pPr>
            <a:r>
              <a:t>📊 Key Verified Performance Metrics &amp; Targets: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Threshold alert trigger set at 1.2x (120%) of historical monthly average.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Realtime sub-metering across production, sanitation, and utilities.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Cloud-synchronized offline resilience for remote farm field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743200" cy="292608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A7F3D0"/>
                </a:solidFill>
                <a:latin typeface="Segoe UI"/>
              </a:defRPr>
            </a:pPr>
            <a:r>
              <a:t>Executive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Live Sustainability Executive Dashboard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6692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D1E7E1"/>
                </a:solidFill>
                <a:latin typeface="Segoe UI"/>
              </a:defRPr>
            </a:pPr>
            <a:r>
              <a:t>High-level visual analytics providing executive visibility over plant utility efficiency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5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07A73"/>
                </a:solidFill>
                <a:latin typeface="Segoe UI"/>
              </a:defRPr>
            </a:pPr>
            <a:r>
              <a:t>ICAPP Corporate Sustainability &amp; ESG Report  •  SafetyHub Environmental Platform  •  Slide 4 of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Executive Dashboard Command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Unified multi-utility radar tracking cumulative water, electrical power, and natural gas metrics on a single screen.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Dynamic year-over-year comparative analysis evaluating efficiency gains against baseline targets.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Live variance gauges displaying real-time consumption against predetermined monthly threshold limits.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Direct integration with plant production output to calculate specific resource intensity per metric ton.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Role-based environmental access granting executive directors instant insight into resource variances.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332B"/>
                </a:solidFill>
                <a:latin typeface="Segoe UI"/>
              </a:defRPr>
            </a:pPr>
            <a:r>
              <a:t>Intelligence: Instant executive oversight enabling rapid anomaly intervention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F3D0"/>
                </a:solidFill>
                <a:latin typeface="Segoe UI"/>
              </a:defRPr>
            </a:pPr>
            <a:r>
              <a:t>🌿 Live Environmental Platform Screenshot (SafetyHub)</a:t>
            </a:r>
          </a:p>
        </p:txBody>
      </p:sp>
      <p:pic>
        <p:nvPicPr>
          <p:cNvPr id="19" name="Picture 18" descr="sus_main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5FAF8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D332B"/>
                </a:solidFill>
                <a:latin typeface="Segoe UI"/>
              </a:defRPr>
            </a:pPr>
            <a:r>
              <a:t>📊 Key Verified Performance Metrics &amp; Targets: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Standard limits: Water 10,000 m³/mo, Electricity 50,000 kWh/mo, Gas 30,000 m³/mo.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Dynamic real-time anomaly alerts for immediate engineering intervention.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Historical trends archived for multi-year ESG sustainability comparative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743200" cy="292608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A7F3D0"/>
                </a:solidFill>
                <a:latin typeface="Segoe UI"/>
              </a:defRPr>
            </a:pPr>
            <a:r>
              <a:t>Water Stewardship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Industrial Water Stewardship &amp; Conservation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6692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D1E7E1"/>
                </a:solidFill>
                <a:latin typeface="Segoe UI"/>
              </a:defRPr>
            </a:pPr>
            <a:r>
              <a:t>Responsible water management across produce washing, processing, and steam generation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5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07A73"/>
                </a:solidFill>
                <a:latin typeface="Segoe UI"/>
              </a:defRPr>
            </a:pPr>
            <a:r>
              <a:t>ICAPP Corporate Sustainability &amp; ESG Report  •  SafetyHub Environmental Platform  •  Slide 5 of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97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Water Conservation Protocols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Multi-stage counter-current washing systems minimizing fresh water intake in agricultural processing.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Closed-loop evaporative cooling towers with automated conductivity bleed-off control.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Condensate recovery loops reclaiming over 85% of boiler steam condensate back to feedwater tanks.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Advanced industrial effluent monitoring ensuring full compliance with national environmental discharge laws.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Drip irrigation optimization for contract farming partners to reduce upstream agricultural water footprints.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332B"/>
                </a:solidFill>
                <a:latin typeface="Segoe UI"/>
              </a:defRPr>
            </a:pPr>
            <a:r>
              <a:t>Stewardship: Preserving precious water resources through circular recovery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F3D0"/>
                </a:solidFill>
                <a:latin typeface="Segoe UI"/>
              </a:defRPr>
            </a:pPr>
            <a:r>
              <a:t>🌿 Live Environmental Platform Screenshot (SafetyHub)</a:t>
            </a:r>
          </a:p>
        </p:txBody>
      </p:sp>
      <p:pic>
        <p:nvPicPr>
          <p:cNvPr id="19" name="Picture 18" descr="sus_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5FAF8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D332B"/>
                </a:solidFill>
                <a:latin typeface="Segoe UI"/>
              </a:defRPr>
            </a:pPr>
            <a:r>
              <a:t>📊 Key Verified Performance Metrics &amp; Targets: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Targeted water consumption cap: &lt;= 10,000 m³ per operating month.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Water intensity tracking: m³ of water consumed per metric ton of packaged goods.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Automated sub-meter tracking across primary, processing, and service loops.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743200" cy="292608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A7F3D0"/>
                </a:solidFill>
                <a:latin typeface="Segoe UI"/>
              </a:defRPr>
            </a:pPr>
            <a:r>
              <a:t>Water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Water Tracking Register &amp; Sub-Meter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6692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D1E7E1"/>
                </a:solidFill>
                <a:latin typeface="Segoe UI"/>
              </a:defRPr>
            </a:pPr>
            <a:r>
              <a:t>Granular digital logging of primary utility inlets, treatment units, and processing lines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5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07A73"/>
                </a:solidFill>
                <a:latin typeface="Segoe UI"/>
              </a:defRPr>
            </a:pPr>
            <a:r>
              <a:t>ICAPP Corporate Sustainability &amp; ESG Report  •  SafetyHub Environmental Platform  •  Slide 6 of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97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Water Registry Governance in SafetyHub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Digital logging of daily meter readings with photographic verification of physical dial gauges.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Granular allocation dividing water consumption between processing lines, sanitation, boiler feeds, and landscape.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Automated water mass-balance calculation identifying underground pipe leaks or pump inefficiencies.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Integration of water treatment chemical logs ensuring optimum microbiological and mineral purity.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Certified compliance records accessible during unannounced health and food safety customer audits.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332B"/>
                </a:solidFill>
                <a:latin typeface="Segoe UI"/>
              </a:defRPr>
            </a:pPr>
            <a:r>
              <a:t>Verification: Transparent sub-meter accounting validating conservation KPIs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F3D0"/>
                </a:solidFill>
                <a:latin typeface="Segoe UI"/>
              </a:defRPr>
            </a:pPr>
            <a:r>
              <a:t>🌿 Live Environmental Platform Screenshot (SafetyHub)</a:t>
            </a:r>
          </a:p>
        </p:txBody>
      </p:sp>
      <p:pic>
        <p:nvPicPr>
          <p:cNvPr id="19" name="Picture 18" descr="sus_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5FAF8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D332B"/>
                </a:solidFill>
                <a:latin typeface="Segoe UI"/>
              </a:defRPr>
            </a:pPr>
            <a:r>
              <a:t>📊 Key Verified Performance Metrics &amp; Targets: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Continuous daily meter logging eliminating manual logbook errors.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Automatic variance alerts flagging off-hours baseline water flow.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Audit-ready documentation for GlobalG.A.P. and BRCGS certifications.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743200" cy="292608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A7F3D0"/>
                </a:solidFill>
                <a:latin typeface="Segoe UI"/>
              </a:defRPr>
            </a:pPr>
            <a:r>
              <a:t>Clean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Energy Efficiency &amp; Power Management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6692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D1E7E1"/>
                </a:solidFill>
                <a:latin typeface="Segoe UI"/>
              </a:defRPr>
            </a:pPr>
            <a:r>
              <a:t>Optimizing electrical consumption across cold storage, IQF freezers, and processing lines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5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07A73"/>
                </a:solidFill>
                <a:latin typeface="Segoe UI"/>
              </a:defRPr>
            </a:pPr>
            <a:r>
              <a:t>ICAPP Corporate Sustainability &amp; ESG Report  •  SafetyHub Environmental Platform  •  Slide 7 of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B779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Energy Decarbonization Initiatives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High-efficiency Variable Frequency Drives (VFDs) installed on heavy ammonia refrigeration compressors.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100% LED industrial smart lighting deployment with motion sensors across warehousing and processing halls.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Power factor correction capacitor banks maintaining plant electrical power factor above 0.96.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Peak-load shaving algorithms scheduling energy-intensive blast freezing during off-peak grid hours.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Feasibility roadmap for on-site 500 kWp rooftop solar photovoltaic (PV) clean energy generation.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332B"/>
                </a:solidFill>
                <a:latin typeface="Segoe UI"/>
              </a:defRPr>
            </a:pPr>
            <a:r>
              <a:t>Decarbonization: Slashing energy overheads while reducing Scope 2 emissions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F3D0"/>
                </a:solidFill>
                <a:latin typeface="Segoe UI"/>
              </a:defRPr>
            </a:pPr>
            <a:r>
              <a:t>🌿 Live Environmental Platform Screenshot (SafetyHub)</a:t>
            </a:r>
          </a:p>
        </p:txBody>
      </p:sp>
      <p:pic>
        <p:nvPicPr>
          <p:cNvPr id="19" name="Picture 18" descr="sus_electri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5FAF8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D332B"/>
                </a:solidFill>
                <a:latin typeface="Segoe UI"/>
              </a:defRPr>
            </a:pPr>
            <a:r>
              <a:t>📊 Key Verified Performance Metrics &amp; Targets: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Standard monthly electrical consumption threshold: &lt;= 50,000 kWh/mo.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Specific Energy Consumption (SEC): kWh per ton of frozen/processed crop.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Power factor optimization maintaining &gt; 0.95 to eliminate grid surcharges.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743200" cy="292608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A7F3D0"/>
                </a:solidFill>
                <a:latin typeface="Segoe UI"/>
              </a:defRPr>
            </a:pPr>
            <a:r>
              <a:t>Electricity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Live Electrical Energy Tracking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6692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D1E7E1"/>
                </a:solidFill>
                <a:latin typeface="Segoe UI"/>
              </a:defRPr>
            </a:pPr>
            <a:r>
              <a:t>Detailed digital documentation of transformer panels, peak demands, and shift consumption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5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07A73"/>
                </a:solidFill>
                <a:latin typeface="Segoe UI"/>
              </a:defRPr>
            </a:pPr>
            <a:r>
              <a:t>ICAPP Corporate Sustainability &amp; ESG Report  •  SafetyHub Environmental Platform  •  Slide 8 of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B779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Electrical Registry Features in SafetyHub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Digital monitoring of main substation transformer feeds and sub-distribution panels.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Shift-by-shift electrical tracking correlating energy spikes with specific product processing runs.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Automated calculation of energy costs and carbon emission equivalents (tCO2e) based on national grid factors.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Preventive thermal scanning integration logging electrical panel temperatures to prevent energy waste.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Exportable historical consumption profiles submitted for ISO 50001 Energy Management audits.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332B"/>
                </a:solidFill>
                <a:latin typeface="Segoe UI"/>
              </a:defRPr>
            </a:pPr>
            <a:r>
              <a:t>Optimization: Actionable power analytics preventing idle machine energy losses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F3D0"/>
                </a:solidFill>
                <a:latin typeface="Segoe UI"/>
              </a:defRPr>
            </a:pPr>
            <a:r>
              <a:t>🌿 Live Environmental Platform Screenshot (SafetyHub)</a:t>
            </a:r>
          </a:p>
        </p:txBody>
      </p:sp>
      <p:pic>
        <p:nvPicPr>
          <p:cNvPr id="19" name="Picture 18" descr="sus_electri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5FAF8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D332B"/>
                </a:solidFill>
                <a:latin typeface="Segoe UI"/>
              </a:defRPr>
            </a:pPr>
            <a:r>
              <a:t>📊 Key Verified Performance Metrics &amp; Targets: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Automated conversion from kWh to Scope 2 GHG emissions (tCO2e).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Shift variance tracking highlighting machine idle power wastage.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Fully aligned with international industrial energy audit standards.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743200" cy="292608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A7F3D0"/>
                </a:solidFill>
                <a:latin typeface="Segoe UI"/>
              </a:defRPr>
            </a:pPr>
            <a:r>
              <a:t>Thermal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Clean Thermal Energy &amp; Natural Gas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6692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D1E7E1"/>
                </a:solidFill>
                <a:latin typeface="Segoe UI"/>
              </a:defRPr>
            </a:pPr>
            <a:r>
              <a:t>Maximizing boiler combustion efficiency and minimizing atmospheric flue gas emissions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5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07A73"/>
                </a:solidFill>
                <a:latin typeface="Segoe UI"/>
              </a:defRPr>
            </a:pPr>
            <a:r>
              <a:t>ICAPP Corporate Sustainability &amp; ESG Report  •  SafetyHub Environmental Platform  •  Slide 9 of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C4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Thermal Energy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High-efficiency industrial steam boilers operating on clean-burning Natural Gas to minimize SOx and particulates.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Automated combustion air-fuel ratio modulation maintaining flue gas oxygen at optimum levels.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Thorough thermal insulation and steam trap maintenance protocols reducing radiant pipeline heat loss by 95%.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Steam metering per production line monitoring blanching, pasteurization, and cleaning-in-place (CIP) stages.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Quarterly third-party flue gas emissions testing validating full compliance with Law No. 4/1994 Environmental Standards.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332B"/>
                </a:solidFill>
                <a:latin typeface="Segoe UI"/>
              </a:defRPr>
            </a:pPr>
            <a:r>
              <a:t>Clean Fuel: Efficient steam generation with minimal atmospheric emissions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F3D0"/>
                </a:solidFill>
                <a:latin typeface="Segoe UI"/>
              </a:defRPr>
            </a:pPr>
            <a:r>
              <a:t>🌿 Live Environmental Platform Screenshot (SafetyHub)</a:t>
            </a:r>
          </a:p>
        </p:txBody>
      </p:sp>
      <p:pic>
        <p:nvPicPr>
          <p:cNvPr id="19" name="Picture 18" descr="sus_main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5FAF8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D332B"/>
                </a:solidFill>
                <a:latin typeface="Segoe UI"/>
              </a:defRPr>
            </a:pPr>
            <a:r>
              <a:t>📊 Key Verified Performance Metrics &amp; Targets: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Monthly natural gas consumption ceiling: &lt;= 30,000 m³/mo.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Over 85% boiler thermal efficiency achieved through continuous tuning.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Flue gas emissions (CO, NOx, SO2) verified below statutory thresholds.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743200" cy="292608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A7F3D0"/>
                </a:solidFill>
                <a:latin typeface="Segoe UI"/>
              </a:defRPr>
            </a:pPr>
            <a:r>
              <a:t>Circular Economy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Circular Economy &amp; Total Waste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6692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D1E7E1"/>
                </a:solidFill>
                <a:latin typeface="Segoe UI"/>
              </a:defRPr>
            </a:pPr>
            <a:r>
              <a:t>Comprehensive zero-waste strategy turning organic agricultural by-products into high-value resources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5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07A73"/>
                </a:solidFill>
                <a:latin typeface="Segoe UI"/>
              </a:defRPr>
            </a:pPr>
            <a:r>
              <a:t>ICAPP Corporate Sustainability &amp; ESG Report  •  SafetyHub Environmental Platform  •  Slide 10 of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25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13-Stream Circular Waste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13 regulated waste streams categorized in SafetyHub: Agricultural organic, plastic, cardboard, scrap metal, and hazmat.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100% recycling of organic vegetable trimmings and peels into certified animal feed and nutrient-rich bio-compost.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Zero-landfill policy: Non-organic recyclables (HDPE, LDPE, cartons) baled and sold to certified industrial recyclers.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Hazardous waste (empty chemical drums, used oils, medical clinic waste) segregated under licensed environmental custody.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Digital chain-of-custody waste disposal manifests verified and signed by authorized recycling contractors.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332B"/>
                </a:solidFill>
                <a:latin typeface="Segoe UI"/>
              </a:defRPr>
            </a:pPr>
            <a:r>
              <a:t>Circularity: Transforming processing waste streams into sustainable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F3D0"/>
                </a:solidFill>
                <a:latin typeface="Segoe UI"/>
              </a:defRPr>
            </a:pPr>
            <a:r>
              <a:t>🌿 Live Environmental Platform Screenshot (SafetyHub)</a:t>
            </a:r>
          </a:p>
        </p:txBody>
      </p:sp>
      <p:pic>
        <p:nvPicPr>
          <p:cNvPr id="19" name="Picture 18" descr="sus_was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5FAF8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D332B"/>
                </a:solidFill>
                <a:latin typeface="Segoe UI"/>
              </a:defRPr>
            </a:pPr>
            <a:r>
              <a:t>📊 Key Verified Performance Metrics &amp; Targets: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13 distinct waste classifications managed in WasteManagement_RegularWasteTyp.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Over 92% waste diversion rate achieved away from municipal landfills.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Licensed hazardous waste consignment notes archived for inspection.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743200" cy="292608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A7F3D0"/>
                </a:solidFill>
                <a:latin typeface="Segoe UI"/>
              </a:defRPr>
            </a:pPr>
            <a:r>
              <a:t>Waste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Waste Management Live Digital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6692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D1E7E1"/>
                </a:solidFill>
                <a:latin typeface="Segoe UI"/>
              </a:defRPr>
            </a:pPr>
            <a:r>
              <a:t>Transparent digital tracking of waste weights, disposal contractors, and revenue generation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5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07A73"/>
                </a:solidFill>
                <a:latin typeface="Segoe UI"/>
              </a:defRPr>
            </a:pPr>
            <a:r>
              <a:t>ICAPP Corporate Sustainability &amp; ESG Report  •  SafetyHub Environmental Platform  •  Slide 11 of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25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Waste Tracking Register in SafetyHub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Direct digital logging of every outgoing waste consignment with verified weighbridge slips.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Contractor licensing verification ensuring all scrap and recycling partners hold valid Environmental Agency approvals.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Tracking of recycling revenue generated from recyclable scrap cardboard and plastics.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Traceable hazardous waste registers maintaining cradle-to-grave manifest numbers.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Annual total waste generation reports automatically compiled for national environmental regulatory filings.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332B"/>
                </a:solidFill>
                <a:latin typeface="Segoe UI"/>
              </a:defRPr>
            </a:pPr>
            <a:r>
              <a:t>Compliance: 100% traceable disposal manifests ensuring zero environmental liability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F3D0"/>
                </a:solidFill>
                <a:latin typeface="Segoe UI"/>
              </a:defRPr>
            </a:pPr>
            <a:r>
              <a:t>🌿 Live Environmental Platform Screenshot (SafetyHub)</a:t>
            </a:r>
          </a:p>
        </p:txBody>
      </p:sp>
      <p:pic>
        <p:nvPicPr>
          <p:cNvPr id="19" name="Picture 18" descr="sus_was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5FAF8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D332B"/>
                </a:solidFill>
                <a:latin typeface="Segoe UI"/>
              </a:defRPr>
            </a:pPr>
            <a:r>
              <a:t>📊 Key Verified Performance Metrics &amp; Targets: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Weighbridge-certified digital consignment recording in SafetyHub.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Verification of contractor environmental license validity before gate release.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Audit compliance ready for Sedex SMETA environmental pillar reviews.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743200" cy="292608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A7F3D0"/>
                </a:solidFill>
                <a:latin typeface="Segoe UI"/>
              </a:defRPr>
            </a:pPr>
            <a:r>
              <a:t>Carbon Footprint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Greenhouse Gas (GHG) Accounting &amp; Decarbonization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6692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D1E7E1"/>
                </a:solidFill>
                <a:latin typeface="Segoe UI"/>
              </a:defRPr>
            </a:pPr>
            <a:r>
              <a:t>Rigorous carbon measurement across Scope 1, 2, and 3 emissions aligned with GHG Protocol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5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07A73"/>
                </a:solidFill>
                <a:latin typeface="Segoe UI"/>
              </a:defRPr>
            </a:pPr>
            <a:r>
              <a:t>ICAPP Corporate Sustainability &amp; ESG Report  •  SafetyHub Environmental Platform  •  Slide 12 of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Corporate GHG Emissions Accounting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Scope 1 (Direct Emissions): Combustion of natural gas in boilers, company vehicle fuels, and backup generators.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Scope 2 (Indirect Emissions): Purchased grid electricity driving plant refrigeration and packaging automation.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Scope 3 (Value Chain): Tracking raw crop transport logistics, packaging raw materials, and waste logistics.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Carbon Intensity Index: Calculating kilograms of CO2 equivalent per kilogram of finished agricultural product.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Decarbonization Roadmap: Aiming for 25% carbon intensity reduction by 2030 through solar PV and heat recovery.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332B"/>
                </a:solidFill>
                <a:latin typeface="Segoe UI"/>
              </a:defRPr>
            </a:pPr>
            <a:r>
              <a:t>Climate Action: Measurable carbon reduction targets supporting global Net-Zero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F3D0"/>
                </a:solidFill>
                <a:latin typeface="Segoe UI"/>
              </a:defRPr>
            </a:pPr>
            <a:r>
              <a:t>🌿 Live Environmental Platform Screenshot (SafetyHub)</a:t>
            </a:r>
          </a:p>
        </p:txBody>
      </p:sp>
      <p:pic>
        <p:nvPicPr>
          <p:cNvPr id="19" name="Picture 18" descr="sus_main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5FAF8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D332B"/>
                </a:solidFill>
                <a:latin typeface="Segoe UI"/>
              </a:defRPr>
            </a:pPr>
            <a:r>
              <a:t>📊 Key Verified Performance Metrics &amp; Targets: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Direct calculation of Scope 1 &amp; 2 carbon footprint metrics in SafetyHub.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Aligned with GHG Protocol Corporate Standard and ISO 14064 principles.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Provides European retail buyers with verified product carbon footprint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743200" cy="292608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A7F3D0"/>
                </a:solidFill>
                <a:latin typeface="Segoe UI"/>
              </a:defRPr>
            </a:pPr>
            <a:r>
              <a:t>Compliance &amp;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International Accreditations &amp; Client Environmental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6692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D1E7E1"/>
                </a:solidFill>
                <a:latin typeface="Segoe UI"/>
              </a:defRPr>
            </a:pPr>
            <a:r>
              <a:t>Certified compliance providing international buyers with uncompromised supply chain confidence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5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07A73"/>
                </a:solidFill>
                <a:latin typeface="Segoe UI"/>
              </a:defRPr>
            </a:pPr>
            <a:r>
              <a:t>ICAPP Corporate Sustainability &amp; ESG Report  •  SafetyHub Environmental Platform  •  Slide 13 of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Global Certifications &amp; Client Assurance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ISO 14001:2015: Certified Environmental Management System governing all industrial food processing operations.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GlobalG.A.P. &amp; Integrated Farm Assurance (IFA): Ensuring sustainable farming, soil conservation, and zero pesticide drift.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Sedex SMETA 4-Pillar Certified: Validating environmental governance, labor safety, ethics, and human rights.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BRCGS Food Safety &amp; Packaging Standards: Ensuring hygienic and environmentally sustainable packaging operations.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Client Environmental Transparency: Offering real-time compliance dashboards for auditing teams from top tier retailers.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332B"/>
                </a:solidFill>
                <a:latin typeface="Segoe UI"/>
              </a:defRPr>
            </a:pPr>
            <a:r>
              <a:t>Assurance: Verified audit credentials delivering trusted partnership to global brands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F3D0"/>
                </a:solidFill>
                <a:latin typeface="Segoe UI"/>
              </a:defRPr>
            </a:pPr>
            <a:r>
              <a:t>🌿 Live Environmental Platform Screenshot (SafetyHub)</a:t>
            </a:r>
          </a:p>
        </p:txBody>
      </p:sp>
      <p:pic>
        <p:nvPicPr>
          <p:cNvPr id="19" name="Picture 18" descr="sus_main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5FAF8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D332B"/>
                </a:solidFill>
                <a:latin typeface="Segoe UI"/>
              </a:defRPr>
            </a:pPr>
            <a:r>
              <a:t>📊 Key Verified Performance Metrics &amp; Targets: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Verified compliance with 40 mandatory legal &amp; statutory registers in SafetyHub.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Zero environmental non-conformances across recent third-party audits.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Continuous client assurance supporting agricultural exports to 30+ countries.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24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743200" cy="292608"/>
          </a:xfrm>
          <a:prstGeom prst="roundRect">
            <a:avLst/>
          </a:prstGeom>
          <a:solidFill>
            <a:srgbClr val="195849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A7F3D0"/>
                </a:solidFill>
                <a:latin typeface="Segoe UI"/>
              </a:defRPr>
            </a:pPr>
            <a:r>
              <a:t>Roadmap &amp;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2026-2030 Sustainability Targets &amp; Executive Contacts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6692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D1E7E1"/>
                </a:solidFill>
                <a:latin typeface="Segoe UI"/>
              </a:defRPr>
            </a:pPr>
            <a:r>
              <a:t>A quantified roadmap delivering environmental stewardship, operational savings, and client value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5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07A73"/>
                </a:solidFill>
                <a:latin typeface="Segoe UI"/>
              </a:defRPr>
            </a:pPr>
            <a:r>
              <a:t>ICAPP Corporate Sustainability &amp; ESG Report  •  SafetyHub Environmental Platform  •  Slide 14 of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0D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Targets, Executive ROI &amp; Inquiries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-20% Water Consumption Intensity per metric ton achieved by end of 2027.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-15% Electricity Intensity through solar PV deployment and variable frequency drives.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95%+ Solid Waste Diversion Rate maintaining circular organic bio-composting.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Tangible Business ROI: Eliminating resource wastage, lowering utility overheads, and safeguarding export quotas.</a:t>
            </a:r>
          </a:p>
          <a:p>
            <a:pPr algn="l">
              <a:spcAft>
                <a:spcPts val="700"/>
              </a:spcAft>
              <a:defRPr sz="1100">
                <a:solidFill>
                  <a:srgbClr val="17322D"/>
                </a:solidFill>
                <a:latin typeface="Segoe UI"/>
              </a:defRPr>
            </a:pPr>
            <a:r>
              <a:t>• Dedicated ESG Leadership: Ready to support international client audits and joint decarbonization initiatives.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24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332B"/>
                </a:solidFill>
                <a:latin typeface="Segoe UI"/>
              </a:defRPr>
            </a:pPr>
            <a:r>
              <a:t>Commitment: ICAPP — Sustaining the Earth, Nurturing the Future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9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7F3D0"/>
                </a:solidFill>
                <a:latin typeface="Segoe UI"/>
              </a:defRPr>
            </a:pPr>
            <a:r>
              <a:t>🌿 Live Environmental Platform Screenshot (SafetyHub)</a:t>
            </a:r>
          </a:p>
        </p:txBody>
      </p:sp>
      <p:pic>
        <p:nvPicPr>
          <p:cNvPr id="19" name="Picture 18" descr="sus_main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5FAF8"/>
          </a:solidFill>
          <a:ln w="12700">
            <a:solidFill>
              <a:srgbClr val="D5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D332B"/>
                </a:solidFill>
                <a:latin typeface="Segoe UI"/>
              </a:defRPr>
            </a:pPr>
            <a:r>
              <a:t>📊 Key Verified Performance Metrics &amp; Targets: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Executive Leadership: Director of Environmental Sustainability &amp; HSE.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Direct Contact: Yasser.diab@icapp.com.eg | ICAPP Headquarters.</a:t>
            </a:r>
          </a:p>
          <a:p>
            <a:pPr algn="l">
              <a:defRPr sz="919">
                <a:solidFill>
                  <a:srgbClr val="17322D"/>
                </a:solidFill>
                <a:latin typeface="Segoe UI"/>
              </a:defRPr>
            </a:pPr>
            <a:r>
              <a:t>✔ Supported by SafetyHub Environmental Intelligence Engine (HSEHub360).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