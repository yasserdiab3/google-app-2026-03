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noFill/>
          <a:ln w="1905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5504" y="100584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240280"/>
            <a:ext cx="103628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Segoe UI"/>
              </a:defRPr>
            </a:pPr>
            <a:r>
              <a:t>SafetyHub | ICAPP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DD3FC"/>
                </a:solidFill>
                <a:latin typeface="Segoe UI"/>
              </a:defRPr>
            </a:pPr>
            <a:r>
              <a:t>المنظومة الرقمية الشاملة لإدارة السلامة والصحة المهنية والبيئة (HSE)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862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>
                <a:solidFill>
                  <a:srgbClr val="E2E8F0"/>
                </a:solidFill>
                <a:latin typeface="Segoe UI"/>
              </a:defRPr>
            </a:pPr>
            <a:r>
              <a:t>الشركة العالمية للإنتاج والتصنيع الزراعي (ICAPP) • الإصدار المتطور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🛡️ صفر حوادث ووقاية استباقية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⚡ عمل كامل بدون إنترنت (Offline)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📋 25+ موديول ميداني وإداري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6840" y="4663440"/>
            <a:ext cx="2468880" cy="502920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🤖 مدعوم بالذكاء الاصطناعي Gemini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إعداد وتطوير: فريق السلامة والصحة المهنية بالتعاون مع نظم المعلومات • All Rights Reserved ©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الرؤية والرسالة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الرؤية الاستراتيجية وأهداف المنظومة الرقمية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نحو تحول رقمي متكامل وثقافة وقائية مستدامة لحماية الأرواح والمنشآت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ثقافة صفر حوادث (Zero Harm)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التحول من رد الفعل بعد وقوع الحادث إلى الوقاية الاستباقية.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إشراك كافة المستويات الوظيفية من العامل وحتى الإدارة العليا.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تمكين المشرفين من رصد وتقييم المخاطر بشكل لحظي.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تعزيز ثقافة الإبلاغ الطوعي عن الحوادث الوشيكة دون خوف.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بناء سجل تراكمي يحمي سمعة المنشأة ويرسخ معايير السلامة.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الهدف: القضاء التام على الإصابات المقعدة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التحول الرقمي الكامل (100% Paperless)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التخلص الكامل من النماذج الورقية المعرضة للتلف والضياع.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إصدار وتوقيع تصاريح العمل إلكترونياً (e-PTW) بلحظات.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أرشفة مركزية سحابية لجميع السجلات الطبية والتفتيشية.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تتبع فوري ومؤتمت لكافة الإجراءات التصحيحية والوقائية.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تقليص الوقت الإداري بنسبة 85% وتوجيهه للعمل الميداني.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الميزة: سرعة فائقة ودقة بيانات بنسبة 100%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الامتثال والحوكمة الرقابية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الامتثال الصارم لمواصفات ISO 45001 و 14001 و 22000.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التوافق التام مع قانون العمل المصري والبيئة والدفاع المدني.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تدقيق إلكتروني (Audit Trail) غير قابل للتلاعب.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جاهزية دائمة لزيارات التفتيش الداخلي والخارجي بنقرة زر.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تنفيذية دورية مدعومة بمؤشرات الأداء القياسية.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النتيجة: جاهزية تامة للاعتماد والمراجعات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البنية التقنية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البنية المعمارية للمنظومة والعمل دون إنترنت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هيكلية سحابية هجينة تضمن استمرارية العمل الميداني بأعلى موثوقية وأمان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3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واجهة المستخدم (Progressive Web App)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واجهة عصرية تفاعلية مستجيبة (Responsive UI).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تعمل على جميع الأجهزة (هواتف، أجهزة لوحية، وحواسيب).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دعم كامل لتعدد اللغات (عربي / إنجليزي) واتجاه RTL.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دعم الوضع الليلي (Dark Mode) لراحة العين في المناوبات.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سهولة الاستخدام وسرعة استجابة لا تتعدى أجزاء من الثانية.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التقنية: Modern HTML5 / CSS3 / Vanilla JS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محرك العمل بلا اتصال (Offline-First)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إدخال كافة النماذج الميدانية في حال انقطاع الشبكة.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تخزين مشفر محلي بالمتصفح (IndexedDB &amp; LocalStorage).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مزامنة ذكية تلقائية (Realtime Sync) فور عودة الاتصال.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آلية حل التعارض المتقدمة (Conflict Resolution).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عدم فقدان أي تقرير أو تصريح أو ملاحظة مسجلة ميدانياً.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الميزة الأهم: استمرارية العمل في المخازن والحقول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البنية السحابية والذكاء الاصطناعي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خوادم آمنة تعتمد على بيئة Google Apps Script Enterprise.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قواعد بيانات منظمة وسريعة على Google Sheets &amp; SQL.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تكامل مباشر مع Google Gemini AI للتحليل والاستشارات.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تشفير البيانات أثناء النقل (TLS 1.3) وأثناء التخزين.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نسخ احتياطي آلي دوري واسترجاع فوري للكوارث.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الأمان: حماية سيبرانية وتشفير عالي المستوى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الأمان والمصادقة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بوابة تسجيل الدخول وإدارة الصلاحيات (RBAC)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حماية مشددة لبيانات المنشأة مع سهولة الوصول للكوادر المصرح لها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4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المصادقة الآمنة والمشفرة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الدخول بالبريد الإلكتروني المعتمد وكلمة المرور.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تشفير كلمات المرور باستخدام خوارزميات التشفير (SHA-256).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حماية ضد هجمات التخمين وحظر محاولات الدخول العشوائية.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كامل لمحاولات الدخول الناجحة والفاشلة بالساعة والتاريخ.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الدخول السريع برمز PIN للمستخدمين الميدانيين.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الحماية: تشفير تام وعدم تخزين كلمات المرور كنص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المصادقة الثنائية (2FA / MFA)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دعم المصادقة الثنائية لجميع حسابات الإدارة والمشرفين.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توليد رموز مؤقتة (TOTP) عبر تطبيقات Google Authenticator.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منع الوصول غير المصرح به حتى في حال تسرب كلمة المرور.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إشعارات فورية عبر البريد عند رصد تسجيل دخول من جهاز جديد.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التحقق الإلزامي للمديرين وحسابات الاعتماد المالي وتصاريح العمل.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المعيار: Two-Factor Authentication معتمد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التحكم بالوصول المبني على الأدوار (RBAC)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أدوار محددة: مدير نظام، مسؤول سلامة، طبيب، مقاول، حارس بوابة.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صلاحيات تفصيلية (عرض، إضافة، تعديل، اعتماد، حذف).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عزل بيانات الأقسام الحساسة (مثل السجلات الطبية للموظفين).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إدارة انتهاء الجلسات الآلي عند عدم النشاط لضمان الأمان.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تجميد الحسابات فور انتهاء العلاقة التعاقدية للموظف.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الحوكمة: صلاحيات دقيقة لكل مستخدم حسب دوره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لوحة القيادة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لوحة التحكم التنفيذية والمؤشرات اللحظية (KPIs)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رؤية شاملة ومباشرة لكافة مؤشرات السلامة بالمنشأة تدعم اتخاذ القرارات السليمة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5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بطاقات الإحصاء اللحظية (Live KPIs)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إجمالي ساعات العمل الآمنة بدون إصابات وقت ضائع (LTI).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عدد تصاريح العمل النشطة والمغلقة والمعلقة حالياً.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الحوادث وشبه الحوادث المسجلة خلال الشهر ومقارنتها بالعام السابق.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نسبة إغلاق الإجراءات التصحيحية والوقائية في موعدها (CAPA).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معدل تردد الإصابات (LTIFR) ومعدل شدة الإصابات (Severity Rate).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المؤشرات: تحديث لحظي على مدار 24 ساعة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الرسوم البيانية التفاعلية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مخططات اتجاهات الحوادث وتوزيعها الزمني والجغرافي بالموقع.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تحليل أكثر الأقسام تسجيلاً للملاحظات والسلوكيات غير الآمنة.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مخطط دائري لتوزيع تصاريح العمل حسب نوع النشاط والخطورة.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رسم بياني لزيارات العيادة الطبية ومعدلات الأمراض الموسمية.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تصدير التقارير والرسوم البيانية إلى PDF و Excel بضغطة زر.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التحليل: رسوم تفاعلية تكشف مواطن الخلل مبكراً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شريط التنبيهات والإجراءات السريعة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تنبيهات فورية عند تسجيل حادث جسيم أو تصريح عمل ساخن.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إشعارات قرب انتهاء صلاحية طفايات الحريق أو رخص المقاولين.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قائمة المهام اليومية المطلوبة من مسؤول السلامة بالمناوبة.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أزرار وصول سريع لفتح تصريح، تسجيل ملاحظة، أو طلب طوارئ.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لوحة الرسائل والإعلانات التوعوية الموجهة لفرق العمل.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الكفاءة: الوصول لأي وظيفة رئيسية خلال نقرة واحدة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الهوية والكوادر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المستخدمين، المهام، وسجل الموظفين الرقمي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إدارة مركزية للكوادر البشرية ومتابعة دقيقة للمهام والمسؤوليات اليومية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6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قاعدة بيانات الموظفين الرقمية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رقمي متكامل لكل عامل وموظف داخل المنشأة.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البيانات الأساسية: الاسم، الرقم القومي، القسم، المسمى الوظيفي.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استلام مهمات الوقاية الشخصية وتاريخ الصرف والتجديد.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السجل التدريبي وشهادات التأهيل وتاريخ الفحوصات الطبية.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تتبع حالة اللياقة الصحية وموانع العمل في الأماكن المرتفعة.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التكامل: ربط مباشر مع العيادة ومهمات الوقاية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نظام إدارة مهام المستخدمين (Tasks)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إسناد مهام السلامة المحددة لمسؤولي الأقسام والمشرفين.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تاريخ الاستحقاق ومستوى الأولوية (عادي، هام، طارئ).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إشعارات تلقائية عند تعيين مهمة جديدة أو اقتراب موعدها.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إرفاق صور ومستندات تثبت إتمام المهمة بنجاح.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معدل التزام كل موظف بإنجاز مهام السلامة المسندة إليه.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المتابعة: إغلاق المهام الميدانية بدون تسويف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الملف الشخصي والتخصيص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صفحة شخصية تتيح للمستخدم استعراض صلاحياته ومهامه.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تغيير كلمة المرور وتفعيل ميزة التحقق الثنائي بسهولة.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تخصيص لغة الواجهة ومظهر التطبيق حسب تفضيل المستخدم.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النشاط الشخصي وتاريخ العمليات التي قام بها في النظام.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التواصل المباشر مع فريق الدعم الفني ومدير النظام.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المرونة: تجربة استخدام شخصية تلبي متطلبات كل موظف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العمليات الحرجة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منظومة تصاريح العمل الإلكترونية (e-PTW)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السيطرة الكاملة على الأعمال عالية الخطورة بمسار اعتماد رقمي صارم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7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أنواع التصاريح المشمولة بالمنظومة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تصريح العمل الساخن (Hot Work): لحام، قطع، وتوليد الشرر.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تصريح الأماكن المغلقة (Confined Space): خزانات، صوامع، بيارات.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تصريح العمل على ارتفاعات (Working at Height): سقالات، سلالم.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تصريح العزل الكهربائي والميكانيكي (LOTO System).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تصاريح الحفر، الرفع الثقيل، والأعمال الكيميائية الخاصة.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التغطية: حماية شاملة لجميع الأنشطة الخطرة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متطلبات واشتراطات السلامة المسبقة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فحص قياسات الغازات ونسبة الأكسجين بالأجهزة المعايرة.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التأكد من توفير طفايات الحريق وخراطيم المياه ومراقب الحريق.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التحقق من سلامة السقالات وربط أحزمة الأمان ثلاثية النقاط.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إرفاق تقييم المخاطر (JHA) الخاص بالنشاط المحدد.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فحص جاهزية طاقم العمل وتأهيلهم الطبي والتدريبي للمهمة.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الاشتراطات: لا تصريح بدون تطبيق كامل معايير الأمان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دورة الاعتماد والإغلاق الرقمي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مسار اعتماد ثلاثي: طالب التصريح -&gt; المصدر الميداني -&gt; معتمد السلامة.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توقيعات إلكترونية مسجلة بالتوقيت وموثقة بـ QR Code للتفتيش.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فترة الصلاحية بدقة وإمكانية التمديد لمرة واحدة بشروط.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الإغلاق النظامي بعد تنظيف الموقع والتأكد من خلوه من المخاطر.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أرشفة دائمة للتصاريح للرجوع إليها في أي مراجعات أو تحقيقات.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الحوكمة: دورة اعتماد رقمية تمنع العمل غير المرخص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حوكمة التوقيع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المصرح لهم بالتوقيع والاعتمادات الميدانية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ضبط المسؤوليات وتأهيل الكوادر المخولة بإصدار تصاريح العمل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8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معايير التأهيل والترخيص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واختيار المشرفين المؤهلين لإصدار تصاريح العمل.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اشتراط اجتياز الدورات التدريبية المتقدمة لسلامة العمليات.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التحقق من معرفتهم بمخاطر الموقع المحدد وإجراءات الطوارئ.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إصدار رخصة داخلية للموقع بصلاحية زمنية محددة.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إعادة تقييم سنوي لكفاءة الموقعين لضمان الالتزام المستمر.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التأهيل: لا توقيع إلا بعد التدريب والاعتماد الرسمي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مصفوفة الصلاحيات الموقعية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نطاق مسؤولية كل موقع جغرافياً (مصنع، خط إنتاج، مخزن).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أنواع التصاريح المسموح لكل شخص توقيعها وإصدارها.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منع التوقيع خارج النطاق الجغرافي أو التخصصي المعتمد.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تفويض الصلاحيات مؤقتاً أثناء الإجازات بموافقة رسمية.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تدقيق كامل (Audit Trail) يوضح كل تصريح ومن قام باعتماده.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الدقة: حصر الصلاحيات حسب الموقع ونوع النشاط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الرقابة ومنع تضارب المصالح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فصل حاسم بين منفذ العمل (Receiver) ومصدر التصريح (Issuer).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اشتراط موافقة أخصائي السلامة (HSE Approver) للأعمال الحرجة.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إلغاء فوري لصلاحية التوقيع في حال ارتكاب مخالفة جسيمة.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متابعة دورية لإحصائيات التصاريح الموقعة من كل مسؤول.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تقييم جودة اشتراطات الأمان المطبقة في كل تصريح.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النزاهة: منع الازدواجية وتطبيق أقصى معايير الرقابة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الحوادث والتحقيقات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الحوادث وتحليل الأسباب الجذرية (RCA)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منظومة تحقيق منهجية تمنع تكرار الحوادث وتؤسس لإجراءات تصحيحية دائمة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9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الإبلاغ الفوري وتوثيق الحوادث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إبلاغ لحظي فور وقوع الحادث مع تحديد الموقع الجغرافي الدقيق.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الحادث: إصابة عمل، حادث مروري، حريق، تلف ممتلكات.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توثيق الأدلة الميدانية بالصور، الفيديو، وشهادات الشهود.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درجة الخطورة وتصنيف الإصابة (إسعافات أولية، LTI، إلخ).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إشعار فوري لمديري الإدارات العليا وفريق السلامة تلقائياً.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الاستجابة: سرعة إخطار وتوثيق رقمي للأدلة الميدانية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أدوات التحليل الجذري المدمجة (RCA)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تطبيق منهجية 'لماذا الخمسة' (5 Whys) للوصول للسبب الأساسي.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مخطط عظمة السمكة (Ishikawa Fishbone) لتحليل 6M.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تحليل العوامل: الإنسان، المعدة، المادة، الطريقة، البيئة، والإدارة.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التمييز الدقيق بين الأسباب المباشرة والأسباب الجذرية العميقة.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الفشل في حواجز الحماية (Barrier Analysis).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المنهجية: أحدث أدوات التحليل المعتمدة عالمياً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خطة الإجراءات التصحيحية (CAPA)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صياغة إجراءات تصحيحية فورية وإجراءات وقائية مستقبلية.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مسؤول تنفيذي لكل إجراء وتاريخ محدد للإغلاق.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الإجراءات بسجل المتابعة العام (ATR) للمنظومة.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عدم إغلاق ملف الحادث إلا بعد التحقق الميداني من فاعلية الحل.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نشر الدروس المستفادة (Safety Alerts) لمنع تكرار الحادث.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الأثر: معالجة الأسباب لمنع تكرار الحادث بنسبة 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الوقاية الاستباقية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الحوادث الوشيكة (Near-Miss) وبرنامج BBS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استثمار الإشارات المبكرة وتعديل السلوكيات لبناء بيئة عمل خالية من الأخطاء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10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نظام الإبلاغ عن الحوادث الوشيكة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تبسيط شاشة الإبلاغ لتشجيع العمال على الإبلاغ دون قيود.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الوقائع التي كادت تؤدي لإصابة أو خسائر في الأصول.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الإبلاغ السري لحماية خصوصية الموظف.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مستوى الخطر الكامن وتحديد الأولويات لمعالجته فوراً.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مكافأة وتشجيع الموظفين الأكثر إبلاغاً عن الحوادث الوشيكة.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المبدأ: كل 300 حادث وشيك يقابله حادث جسيم (هرم بيرد)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مراقبة السلوكيات الميدانية (BBS)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رصد وتوثيق السلوكيات الآمنة وغير الآمنة في بيئة العمل.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إجراء حوارات السلامة الإيجابية المباشرة مع العمال في الميدان.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الدوافع وراء السلوكيات الخاطئة (استعجال، نقص تدريب، إجهاد).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تعزيز وتكريم التصرفات الآمنة لتحفيز العاملين على تكرارها.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قياس مؤشر السلوك الآمن (Safe Behavior Index) شهرياً.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التطبيق: تعديل السلوك البشري من خلال الحوار والتحفيز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التحليل التنبؤي للاتجاهات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تحليل المناطق الأكثر تكراراً للمواقف الخطرة والأخطاء السلوكية.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توجيه حملات التوعية والتدريب بناءً على بيانات الرصد الواقعية.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تنبؤ استباقي بمواقع الخطر قبل وقوع الإصابات الفعلية.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مقارنة معدلات التحسن السلوكي بين الأقسام المختلفة.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دورية ترفع للإدارة العليا توضح تقدم ثقافة السلامة.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الرؤية: تحويل الملاحظات البسيطة إلى دروع وقائية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الشركاء والمنشأة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المقاولين، الزوار، وأمن البوابات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حوكمة العمليات الخارجية والسيطرة على حركة الدخول والخروج بأعلى درجات الأمان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11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التأهيل المسبق للمقاولين (Pre-qualification)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التسجيل الرقمي لشركات المقاولات ووثائق التأمين المعتمدة.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فحص سجلات السلامة السابقة ونسبة الحوادث لدى المقاول.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اعتماد كفاءة الكوادر الفنية والمشرفين التابعين للمقاول.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التحقق من صلاحية شهادات فحص المعدات والآلات الموردة.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المقاولين وتحديث القائمة المعتمدة دورياً.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التأهيل: لا عمل لأي مقاول دون اجتياز شروط السلامة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التقييم الميداني المستمر للمقاولين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مراقبة التزام عمال المقاول بتعليمات ومهمات الوقاية اليومية.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المخالفات وتطبيق الخصومات ولائحة الجزاءات تلقائياً.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إصدار بطاقة تقييم أداء أسبوعية وشهرية لكل شركة مقاولات.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تقييم السلامة بمستحقات المقاولين وتجديد العقود.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إدراج المقاولين غير الملتزمين في القائمة السوداء (Blacklist).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الرقابة: محاسبة دقيقة تضمن تطبيق نفس معايير المنشأة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أمن البوابات والزوار (Gate Security)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رقمي لحركة دخول وخروج الزوار والمقاولين والشاحنات.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إصدار تصاريح دخول مؤقتة بالرقم القومي وتوليد بطاقة QR.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بيانات فحص السائقين والشاحنات قبل السماح بالدخول.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البوابات ببيانات تصاريح العمل السارية والمصرح بها.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إحصائيات فورية لعدد الأفراد المتواجدين داخل المنشأة لحظياً.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الأمن: سيطرة كاملة ومعرفة فورية بمن داخل الموقع في الطوارئ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الصحة المهنية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العيادة الطبية وبرامج الرقابة الصحية للعاملين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رعاية صحية متكاملة وسجلات طبية رقمية تحافظ على لياقة وسلامة الموظفين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12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السجل الطبي الرقمي الموحد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ملف طبي إلكتروني لكل موظف وعامل مشفر بالكامل.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حفظ نتائج الفحوصات الطبية الابتدائية قبل التعيين.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توثيق فصيلة الدم، الحساسية، والأمراض المزمنة إن وجدت.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حماية خصوصية وسرية البيانات الطبية للمرضى طبقاً للقانون.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السجل ببيانات الموظف وقسمه وطبيعة تعرضه المهني.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الخصوصية: بيانات طبية مشفرة ومحمية لا يطلع عليها إلا الطبيب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إدارة الزيارات اليومية والصيدلية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ترددات العيادة اليومية (Clinic Attendance) مع التشخيص.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إدارة صرف الأدوية والمستلزمات الطبية وتتبع رصيد الصيدلية.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الإسعافات الأولية لحوادث وإصابات العمل فور وقوعها.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إدارة منح وتوثيق الإجازات المرضية والتوصيات بالراحة.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إصدار خطابات التحويل الخارجي للمستشفيات التخصصية المتعاقد معها.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الكفاءة: أتمتة كاملة للزيارات والعلاج وساعات العمل المفقودة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الفحوصات الدورية واللياقة المهنية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جدولة الفحوصات الدورية للعاملين في البيئات الخاصة (أغذية، ضوضاء).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متابعة قياسات وظائف الرئة، فحص السمع، وتحاليل الدم الدورية.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التحقق من اللياقة للعمل في الأماكن المرتفعة والأماكن المغلقة.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برامج التوعية الصحية الموسمية (الإجهاد الحراري، الأوبئة).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دورية بمؤشرات الصحة العامة ومعدلات الغياب المرضي.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اللياقة: تأكد مستمر من قدرة العامل على أداء مهامه بأمان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مكافحة الحرائق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وفحص معدات الإطفاء وأنظمة الحريق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جاهزية قصوى بنسبة 100% لكافة معدات الدفاع المدني ومكافحة الطوارئ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13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الحصر الرقمي الشامل للمعدات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رقمي لكافة طفايات الحريق (بودرة، CO2، ماء، رغوة).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تتبع شبكات خراطيم الإطفاء، صناديق الحريق، ومحابس الإمداد.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حصر أنظمة الرشاشات التلقائية (Sprinklers) ومضخات الحريق.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توزيع المعدات على خريطة الموقع الجغرافية برقم تعريفي فريد.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النوع والسعة والموقع الدقيق لكل جهاز إطفاء.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الحصر: تغطية شاملة لكافة نقاط الإطفاء في المنشأة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التفتيش الذكي عبر رموز QR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فحص ميداني سريع عن طريق مسح رمز QR الملصق على الطفاية.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التحقق من: ضغط العداد، سلامة الصمام، خرطوم التفريغ، ونظافة الجهاز.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نتيجة الفحص فورياً في النظام دون الحاجة لأوراق أو كروت.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 فوري عند رصد أي طفاية غير صالحة للاستبدال العاجل.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إرفاق صور توثيقية في حال وجود أي تلف أو إعاقة وصول للجهاز.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الميدان: تفتيش لا يتجاوز ثوانٍ معدودة يضمن كفاءة الجهاز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تنبيهات الصيانة وإعادة التعبئة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تنبيهات تلقائية ذكية قبل موعد إعادة تعبئة الأسطوانات الدورية.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جدولة مواعيد الاختبارات الهيدروستاتيكية الدورية للأسطوانات.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صيانة مضخات الحريق واختبارات التشغيل الأسبوعية للضغط.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فحص كواشف الدخان والحرارة ولوحات الإنذار المركزية.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جاهزية كاملة وتوثيق معتمد للتفتيش من قبل الحماية المدنية.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الجاهزية: لا مفاجآت عند الطوارئ واختبارات دورية مؤتمتة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التفتيش الدوري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الفحوصات الدورية للمعدات والمنشآت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صيانة وقائية وتفتيش مستمر على الأصول الإنشائية والميكانيكية والكهربائية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14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نطاق الأصول والمعدات الخاضعة للفحص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معدات الرفع الثقيل: الأوناش، الرافعات الشوكية، وحبال الرفع.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أوعية الضغط: الغلايات، ضواغط الهواء، وخزانات الغاز والوقود.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المنظومات الكهربائية: اللوحات الرئيسية والفرعية وشبكات التأريض.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السلالات الثابتة والمتحركة، السقالات، وأبواب الطوارئ والمخارج.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بيئة العمل: الإضاءة، الضوضاء، والتهوية الميكانيكية.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النطاق: تغطية كافة الأصول الحيوية ذات الخطورة التشغيلية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قوائم الفحص الذكية (Checklists)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قوائم تفتيش معيارية مصممة وفق الأكواد العالمية (OSHA / ISO).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سهولة التعبئة مع أسئلة واضحة وخيارات محددة (مطابق / غير مطابق).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إلزامية إرفاق صورة العطل الميداني عند رصد أي ملاحظة سلبية.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حساب تلقائي لنسبة الامتثال والسلامة لكل جولة تفتيشية.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تصميم وتعديل قوائم الفحص بما يلائم العمليات الجديدة.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المعايير: تفتيش موحد ودقيق يمنع الاجتهاد العشوائي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الجدولة الآلية وأوامر الإصلاح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تقويم ذكي يوضح مواعيد التفتيش القادمة (أسبوعي، شهري، سنوي).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تنبيهات للمفتشين والمهندسين قبل حلول موعد الفحص بوقت كافٍ.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تحويل الملاحظات والعيوب تلقائياً إلى أوامر إصلاح فورية للصيانة.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متابعة إغلاق العيوب وتحديث حالة المعدة (جاهزة / محظورة).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تاريخي لكل معدة يكشف الأعطال المتكررة ومصدرها.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المتابعة: ربط وثيق بين أخصائي السلامة وفريق الصيانة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مهمات الوقاية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مهمات الوقاية الشخصية (PPE) والمخزون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خط الدفاع الأخير لحماية العاملين مع حوكمة كاملة للصرف والاستهلاك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15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مصفوفة تحديد مهمات الوقاية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المهمات الإلزامية لكل قسم ووظيفة بناءً على تقييم المخاطر.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حماية الرأس: خوذات السلامة بالمواصفات المعتمدة (EN397).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حماية العين والوجه: نظارات حماية ودروع لحام ومواد كيميائية.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حماية الجهاز التنفسي: كمامات غبار، فلاتر غازات، وأجهزة تنفس.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حماية الأقدام والأيدي: أحذية سيفتي متخصصة وقفازات متنوعة.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المصفوفة: كل عامل يرتدي المهمات المناسبة تماماً لمهامه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نظام الصرف وسجل الموظف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استلام رقمي موثق لكل موظف بمهمات الوقاية الخاصة به.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العمر الافتراضي لكل مهمة (مثال: حذاء كل 6 أشهر).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منع الصرف المزدوج قبل انتهاء العمر الافتراضي إلا بأسباب تبرير.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توثيق تاريخ الصرف ورقم المقاس ونوع المهمة المستلمة.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توقيع الموظف إلكترونياً على استلام وتعهده بارتداء المهمات.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الحوكمة: سجل رقمي يمنع الهدر ويثبت استلام كل عامل لمهماته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إدارة المخزون والتكاليف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متابعة لحظية لرصيد مستودع مهمات الوقاية بالأنواع والمقاسات.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تنبيهات آلية عند وصول المخزون للحد الأدنى لإعادة الطلب.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استهلاك تفصيلية حسب الأقسام وخطوط الإنتاج والمقاولين.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مراقبة تكاليف الشراء وجودة الموردين ونسب التلف المبكر.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ضمان عدم توقف أي نشاط تشغيلي بسبب نفاد مهمات الوقاية.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المخزون: توافر مستمر للمهمات وترشيد للتكاليف والمصروفات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الانضباط الميداني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مخالفات السلامة ولائحة الجزاءات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ترسيخ الالتزام وحماية العاملين من خلال تطبيق عادل وصارم لقواعد السلامة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16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التوثيق الميداني للمخالفة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رصد المخالفة وتوثيقها فوراً بالصورة والتوقيت والموقع.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نوع المخالفة: عدم ارتداء PPE، عمل بدون تصريح، سرعة زائدة.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بيانات الموظف أو المقاول المخالف ورقمه الوظيفي.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إتاحة كتابة أقوال المخالف ومبرراته لضمان النزاهة.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إشعار فوري لمدير القسم التابع له المخالف لسرعة التدخل.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التوثيق: تسجيل مصور وقاطع يمنع الإنكار والجدل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لائحة الجزاءات المتدرجة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تطبيق سلم جزاءات تصاعدي عادل ومعتمد من إدارة الشركة: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المستوى 1: توجيه وتنبيه شفهي مسجل مع توعية بالمخاطر.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المستوى 2: لفت نظر كتابي وتعهد بعدم التكرار.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المستوى 3: إنذار رسمي أو إيقاف مؤقت عن العمل.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المستوى 4: جزاء مالي / استبعاد نهائي للمقاول غير الملتزم.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التدرج: التوعية أولاً والردع الحازم في حال الإصرار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دورة المراجعة والاعتماد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مسار اعتماد يبدأ من مسؤول السلامة حتى مدير إدارة السلامة والموارد البشرية.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تقديم التماس وتظلم يتم فحصه بشفافية كاملة.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تحليل أكثر المخالفات تكراراً لتعديل الإجراءات أو تكثيف التدريب.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سجل المخالفات بنظام تقييم الأداء السنوي للموظفين والمقاولين.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خفض واضح بنسبة المخالفات الميدانية بفضل الحزم والشفافية.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العدالة: مسار تدقيق إداري يحمي حقوق الجميع ويعزز الانضباط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المواد الخطرة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السلامة الكيميائية وصحائف الأمان (MSDS)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حماية العاملين والبيئة من مخاطر المواد الكيميائية السامة والقابلة للاشتعال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17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السجل المركزي للمواد الكيميائية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حصر شامل لكافة الكيماويات المستخدمة بالمنشأة والمزارع والمصانع.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الاسم التجاري والعلمي، ورقم CAS، ونوع المادة (حمض، قلوي، مذيب).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الكميات المخزونة والمستهلكة ومواقع التخزين المعتمدة.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الترميز اللوني والتحذيري وفق النظام العالمي المتوافق (GHS).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مهمات الوقاية المتخصصة للتعامل مع كل مادة بعينها.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الحصر: قاعدة بيانات دقيقة لكل لتر ومادة كيميائية في الموقع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صحائف بيانات سلامة المواد (MSDS/SDS)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أرشفة رقمية لصحائف MSDS لجميع المواد متوفرة باللغتين.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سهولة الوصول السريع للصحيفة عبر الجوال أو باركود العبوة.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تعليمات الإسعافات الأولية الفورية عند الاستنشاق أو التلامس.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إجراءات إطفاء الحرائق الكيميائية ونوع الوسيط المناسب.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توجيهات التخلص الآمن بيئياً من العبوات الفارغة والمخلفات.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المعلومة: وصول فوري لإجراءات الطوارئ الطبية لكل مادة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مصفوفة التوافق وخطة الانسكاب (Spill Control)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مصفوفة التوافق الكيميائي لمنع تخزين المواد المتفاعلة معاً.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اشتراطات التخزين: التهوية، درجة الحرارة، وأحواض الاحتواء الثانوية.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خطة التعامل السريع مع الانسكابات الكيميائية (Spill Response).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التأكد من توفير أطقم مكافحة الانسكاب (Spill Kits) وجاهزيتها.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فحص دوري لسلامة أجهزة غسيل العيون ودش الطوارئ بالمخازن.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الوقاية: فصل كيميائي صارم واستعداد تام لاحتواء أي تسريب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النماذج الميدانية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الملاحظات اليومية وبوابة النماذج السريعة (Forms Hub)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تمكين المشرفين والموظفين من توثيق الملاحظات الميدانية بكل سهولة وسرعة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18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تسجيل الملاحظات اليومية الميدانية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أداة رصد سريعة للملاحظات والظروف غير الآمنة أثناء الجولات.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إدخال مباشر بالهاتف الذكي مع التقاط الصورة وتحديد الموقع.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مستوى خطورة الملاحظة (منخفض، متوسط، مرتفع، حرج).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الإجراء المطلوب والشخص أو القسم المكلف بالإصلاح.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إشعار فوري للمسؤول لإصلاح الخلل ومتابعة حالة المعالجة.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الملاحظات: رصد ومعالجة لحظية تمنع تراكم الظروف الخطرة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بوابة النماذج السريعة (Forms Hub)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بوابة مخصصة للهواتف المحمولة تتميز بواجهة فائقة السهولة.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تضم كافة النماذج الميدانية المعتمدة في مكان واحد منظم.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العمل دون الحاجة لتسجيل دخول معقد للمشرف الميداني.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دعم إدخال النماذج بدون اتصال بالإنترنت وحفظها تلقائياً.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تصميم عصري بأزرار كبيرة وقوائم واضحة تناسب بيئة العمل.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المرونة: نموذج متكامل في جيب كل مشرف سلامة في المصنع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لوحة متابعة وإغلاق الملاحظات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استعراض كافة الملاحظات المفتوحة وقيد التنفيذ والمغلقة.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إلزام المسؤول بإرفاق صورة المعالجة بعد إتمام الإصلاح.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تحقق أخصائي السلامة من جودة الإجراء قبل إغلاق الملاحظة.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إحصائيات توضح أكثر الأقسام سرعة في تصحيح الملاحظات.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تقرير دوري للملاحظات المتأخرة يُرفع للمدير العام تلقائياً.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الإغلاق: دائرة تفتيش مغلقة تبدأ بالرصد وتنتهي بالتحقق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إدارة المخاطر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تقييم المخاطر، مصفوفة 5x5، وتعليمات SOP/JHA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تحديد استباقي لكافة الأخطار وتطبيق هرم التحكم لمنع الخسائر البشرية والمادية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19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مصفوفة تقييم المخاطر التفاعلية (5×5 Matrix)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المخاطر بحساب احتمالية الحدوث (1-5) وشدة العواقب (1-5).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الخطر: منخفض (أخضر)، متوسط (أصفر)، مرتفع (أحمر).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الخطر المبدئي (Initial Risk) قبل تطبيق ضوابط الأمان.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إعادة تقييم الخطر المتبقي (Residual Risk) بعد تطبيق الضوابط.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تحديث دوري لسجل المخاطر مع أي تعديل في خطوط الإنتاج.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المصفوفة: منهجية معتمدة تحدد أولويات التدخل الهندسي والإداري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تحليل سلامة الوظائف (JHA / JSA)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تفكيك كل مهمة وظيفية إلى خطوات تسلسلية تفصيلية.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المخاطر الكامنة في كل خطوة على حدة.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وضع إجراءات التحكم والوقاية الإلزامية لكل مرحلة من مراحل العمل.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JHA المعتمد بتصاريح العمل الإلكترونية المناسبة تلقائياً.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تدريب العمال على خطوات JHA قبل بدء تنفيذ الأنشطة الحرجة.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التحليل: تشريح المهام لخطوات آمنة تضمن سلامة المنفذين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مكتبة إجراءات التشغيل القياسية (SOPs)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أرشيف إلكتروني متكامل لإجراءات التشغيل الآمن لكافة الآلات.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إرشادات مصورة وواضحة توضح خطوات التشغيل وإيقاف الطوارئ.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تطبيق هرم التحكم: الإزالة -&gt; الاستبدال -&gt; التحكم الهندسي -&gt; الإداري -&gt; PPE.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البحث السريع عن أي إجراء بالاسم أو القسم أو الماكينة.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مراجعة دورية واعتماد سنوي للإجراءات لمواكبة أحدث المعايير.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المرجع: دليل شامل ومتاح دائماً يضمن توحيد معايير التشغيل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الجودة والامتثال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نظام الآيزو والامتثال للتشريعات والقوانين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مطابقة كاملة للمعايير القياسية العالمية والقوانين المنظمة للسلامة والبيئة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20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معايير أنظمة الإدارة المتكاملة (IMS)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ISO 45001: نظام إدارة السلامة والصحة المهنية ومشاركة العاملين.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ISO 14001: نظام الإدارة البيئية وحماية الموارد والحد من التلوث.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ISO 22000: متطلبات سلامة الغذاء ونقاط التحكم الحرجة (HACCP).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توثيق أهداف وسياسات الجودة والسلامة ومؤشرات قياسها.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إدارة اجتماعات مراجعة الإدارة (Management Review) وحفظ قراراتها.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الاعتماد: متوافق تماماً مع متطلبات شهادات الآيزو الدولية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سجل القوانين والتشريعات المحلية (Legal Register)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حصر شامل للقوانين: قانون العمل رقم 12، قانون البيئة رقم 4.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اشتراطات وتعليمات الدفاع المدني والحريق الرسمية المنظمة.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دوري لنسبة الامتثال الفعلي لكل مادة وفقرة قانونية.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تحديث تلقائي للسجل فور صدور أي قرارات وزارية أو تشريعات جديدة.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تجنب أي مخالفات قانونية أو غرامات صادرة عن الجهات الرقابية.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القانون: التزام كامل بالتشريعات الوطنية وتفادي أي مساءلات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التدقيق الداخلي وحالات عدم المطابقة (Audit &amp; NC)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جدولة خطة التدقيق الداخلي السنوي على كافة الإدارات والمصانع.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نتائج التدقيق وحالات عدم المطابقة الرئيسية والثانوية.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متابعة إغلاق الإجراءات التصحيحية المنبثقة عن التدقيق الداخلي.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أرشفة تقارير الجهات المانحة للشهادات وتتبع ملاحظاتها.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جاهزية مستمرة ومستندات موثقة تقلص زمن التدقيق الخارجي بنسبة 70%.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التدقيق: جاهزية دائمة بنقرة زر أمام لجان التفتيش والاعتماد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الاستدامة والحوكمة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الاستدامة البيئية، إدارة التغيير (MoC)، والميزانية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أبعاد استراتيجية تدعم التنمية المستدامة، التحكم بالتغيير، وترشيد الإنفاق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21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الاستدامة البيئية والبصمة الكربونية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مراقبة استهلاك الطاقة، المياه، والوقود عبر خطوط الإنتاج.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المخلفات الصلبة والسائلة وتتبع التخلص الآمن وإعادة التدوير.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قياس ومتابعة الانبعاثات الغازية وعوادم المداخن والغلايات.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مبادرات ترشيد استهلاك الموارد وحماية التنوع البيولوجي الزراعي.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استدامة بيئية دورية تدعم متطلبات التصدير للأسواق العالمية.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البيئة: الحفاظ على الموارد والحد من الانبعاثات الضارة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إدارة التغييرات التشغيلية (MoC)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دراسة أثر أي تعديل قبل تنفيذه (معدات جديدة، مواد، تعديل بالعمليات).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شامل للمخاطر الناجمة عن التغيير على السلامة والصحة.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مسار اعتماد إلزامي من قطاعات السلامة والإنتاج والصيانة.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تحديث وثائق التدريب وإجراءات التشغيل المصاحبة للتغيير.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منع الحوادث الكارثية الناتجة عن التعديلات العشوائية غير المدروسة.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التحكم: دراسة مسبقة لأي تغيير لمنع ظهور مخاطر غير متوقعة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ميزانية السلامة والعائد الاستثماري (HSE Budget &amp; ROI)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تخطيط بنود ميزانية السلامة السنوية (مهمات، تدريب، صيانة إطفاء، أدوية).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تتبع ومقارنة المصروفات الفعلية مقابل التقديرات المعتمدة.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قياس العائد الاستثماري على السلامة من خلال منع توقف الإنتاج.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حساب الوفر المالي المتحقق من انخفاض الحوادث والتلفيات والتعويضات.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تبرير علمي ومالي لكافة استثمارات السلامة أمام الإدارة العليا.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المالية: إثبات أن السلامة استثمار رابح يحمي الأرباح والأصول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التدريب والتأهيل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التدريب والسلامة المعرفية للكوادر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بناء رأس المال البشري وثقافة الوعي من خلال تدريب مستمر ومقاس الفاعلية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22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الخطة التدريبية ومصفوفة الكفاءة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إعداد الخطة السنوية لتدريب العاملين والمقاولين بالشركة.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مصفوفة التدريب الإلزامية لكل تخصص ومستوى وظيفي.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برامج تدريبية متخصصة: مكافحة الحريق، الإسعافات الأولية، LOTO.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جلسات التوجيه والتعريف بالسلامة للعمال الجدد (Induction).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الاحتياجات التدريبية بناءً على نتائج تقارير الحوادث والتفتيش.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الخطة: منظومة تدريبية مجدولة تغطي كافة العاملين بالمصنع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توثيق السجلات وساعات التدريب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تسجيل حضور المتدربين رقمياً مع صور الجلسات التدريبية.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حساب ساعات التدريب الفردية والتراكمية (Training Man-Hours).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إصدار شهادات التدريب الداخلية مزودة برمز تحقق QR Code.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فاعلية التدريب واختبارات قياس المعرفة قبل وبعد الدورة.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تنبيهات تلقائية قبل انتهاء صلاحية الشهادات لتجديد التدريب.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التوثيق: سجل دقيق لكل متدرب وساعات تدريب معتمدة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835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حملات التوعية ورسائل السلامة (Toolbox Talks)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مكتبة مدمجة لمحاضرات ما قبل العمل اليومية (Toolbox Talks - TBT).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مواضيع سريعة وموجهة تناسب المخاطر اليومية لفرق العمل.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توثيق حضور حوارات TBT الصباحية مع توقيعات المشرفين.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نشر بوسترات وملصقات توعوية دورية في شاشات ولوحات المصنع.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ترسيخ ثقافة السلامة كجزء لا يتجزأ من السلوك اليومي للعاملين.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التوعية: حوارات يومية موجزة تبقي السلامة حاضرة في الأذهان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الذكاء الاصطناعي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مساعد الذكاء الاصطناعي التوليدي (Gemini AI)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تسخير أحدث نماذج الذكاء الاصطناعي لرفع كفاءة التحليل ودعم القرار الفوري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23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مستشار السلامة الذكي (Instant AI Advisor)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مساعد محادثة تفاعلي مدعوم بنماذج Google Gemini المتقدمة.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إجابات فورية ودقيقة على الاستفسارات الفنية والقانونية باللغة العربية.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البحث السريع في معايير السلامة العالمية (OSHA / NFPA / ISO).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اقتراح مهمات الوقاية المناسبة للمواد الكيميائية المعقدة.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مساعدة أخصائي السلامة في مراجعة وتدقيق الإجراءات الميدانية.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المستشار: خبير سلامة افتراضي متاح على مدار الساعة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التحليل الذكي لتقارير الحوادث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قراءة نصوص تقارير الحوادث وتحليل ملابساتها تلقائياً.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استنباط وتصنيف الأسباب الجذرية المباشرة وغير المباشرة.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اقتراح خطط إجراءات تصحيحية (CAPA) واقعية ومتوافقة مع المعايير.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كشف الأنماط الخفية والعوامل المشتركة بين الحوادث المتفرقة.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تقليص زمن إعداد تقارير التحقيق العميقة بنسبة تفوق 75%.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التحليل: استخلاص الأسباب وخطط المعالجة بلمح البصر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توليد المحتوى والتقارير التنفيذية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صياغة مسودات تقييم المخاطر (JHA) لأي وظيفة أو مهمة جديدة.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توليد سيناريوهات تجارب الإخلاء وخطط الطوارئ ومسودات SOP.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إنشاء ملخصات تنفيذية موجهة لمجلس الإدارة بأسلوب مهني رفيع.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ترجمة فورية للمصطلحات الفنية وصحائف الأمان الكيميائية.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أمان وتشفير كامل للبيانات لمنع تسرب أي معلومات داخلية.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الإنتاجية: توفير مئات الساعات في كتابة وتلخيص التقارير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الاستعداد للطوارئ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إدارة خطط الطوارئ وتجارب الإخلاء الوهمية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جاهزية ميدانية تامة وسرعة استجابة فائقة للتعامل مع أي حدث استثنائي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24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خطط الطوارئ وسيناريوهات الأزمات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خطط استجابة معتمدة لسيناريوهات: الحرائق، الانفجارات، والتسرب.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إجراءات التعامل مع الطوارئ الطبية والانهيارات الإنشائية.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خرائط ومسارات الإخلاء ومواقع مخارج الطوارئ المعتمدة.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نقاط التجمع الآمنة (Assembly Points) ووسائل الإشارة.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تحديث دوري لبيانات الاتصال بجهات الطوارئ الخارجية (دفاع مدني، إسعاف).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الخطط: سيناريوهات محددة وواضحة تمنع الارتباك أثناء الأزمات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توثيق تجارب الإخلاء الوهمية (Drills)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جدولة وتنفيذ تجارب الإخلاء الدورية لجميع المباني والمصانع.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قياس زمن الإخلاء الفعلي ومقارنته بالزمن المعياري المستهدف.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حصر أعداد العاملين في نقاط التجمع والتأكد من خلو المباني.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أداء فرق الطوارئ وسرعة إطلاق الإنذار والتوجيه.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توثيق نقاط القوة وفرص التحسين المستخلصة من كل تجربة إخلاء.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التجارب: تدريب عملي دوري يضمن سرعة النجاة في اللحظات الحرجة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فريق التدخل السريع (ERT)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تشكيل وهيكلة فريق الاستجابة الأولية من مختلف الأقسام والمناوبات.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تدريب متقدم لأعضاء الفريق على الإطفاء والإسعاف والإنقاذ.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توزيع الأدوار: قائد الإخلاء، مسؤولو التجميع، ومقدمو الإسعاف.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سجل فحص وتحديث أدوات ومهمات فرق التدخل السريع.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إمكانية إطلاق إنذار الطوارئ وإشعار أعضاء الفريق عبر النظام فوراً.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الفريق: كوادر مدربة تقود عمليات الإنقاذ بثقة واحترافية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متابعة الإجراءات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سجل متابعة الإجراءات وحوكمة الإغلاق (ATR)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السجل المركزي الموحد الذي يضمن تنفيذ وتتبع كافة التوصيات والإجراءات التصحيحية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25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السجل المركزي الشامل (Master Register)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تجميع كافة الإجراءات التصحيحية من جميع الموديولات في سجل موحد.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مصادر الإجراءات: التحقيقات، الملاحظات، الفحوصات، وتدقيق الآيزو.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تحديد مسؤول تنفيذي لكل إجراء وتاريخ محدد لإنهائه.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أولوية الإجراء: عاجل جداً، حرج، متوسط، روتيني.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منع ضياع أي توصية أو إجراء تصحيحي وضمان الرقابة الصارمة.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التجميع: مظلة موحدة تراقب كافة التوصيات الصادرة في المنشأة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تتبع الحالات ومؤشر الإغلاق في الموعد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تصنيف الحالات: مفتوح (Open)، قيد التنفيذ (In-Progress)، مغلق (Closed).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مؤشر الإغلاق في الموعد المحدد (On-Time Closure Rate).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تنبيهات استباقية بالبريد الإلكتروني قبل حلول موعد الاستحقاق.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نظام تصعيد هرمي آلي للمهام المتأخرة يصل للمدير العام.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إلزام المسؤول بإرفاق الأدلة الميدانية والصور عند طلب الإغلاق.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المؤشر: مقياس دقيق لالتزام الإدارات بتنفيذ اشتراطات السلامة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التحقق والمطابقة النهائية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لا يغلق الإجراء في النظام إلا بعد مراجعة واعتماد أخصائي السلامة.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فحص ميداني للتأكد من أن الحل المطبق قضى على الخطر نهائياً.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تقييم فاعلية الإجراء بعد مرور فترة زمنية لمنع الانتكاس.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تقارير دورية ترفع لمجلس الإدارة بنسب إنجاز كل إدارة.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تحويل الإجراءات الناجحة إلى ممارسات عمل قياسية معممة.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التحقق: جودة الإغلاق وليس مجرد استيفاء ورقي شكلي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0" y="164592"/>
            <a:ext cx="2651760" cy="292608"/>
          </a:xfrm>
          <a:prstGeom prst="roundRect">
            <a:avLst/>
          </a:prstGeom>
          <a:solidFill>
            <a:srgbClr val="183558"/>
          </a:solidFill>
          <a:ln w="12700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BAE6FD"/>
                </a:solidFill>
                <a:latin typeface="Segoe UI"/>
              </a:defRPr>
            </a:pPr>
            <a:r>
              <a:t>الخاتمة والأثر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3716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ملخص الأثر التنفيذي والقيمة المضافة لمنظومة SafetyHub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594360"/>
            <a:ext cx="6035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CBD5E1"/>
                </a:solidFill>
                <a:latin typeface="Segoe UI"/>
              </a:defRPr>
            </a:pPr>
            <a:r>
              <a:t>ثمار التحول الرقمي في حماية الأرواح، خفض التكاليف، واستدامة التميز التشغيلي</a:t>
            </a:r>
          </a:p>
        </p:txBody>
      </p:sp>
      <p:pic>
        <p:nvPicPr>
          <p:cNvPr id="8" name="Picture 7" descr="icapp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"/>
            <a:ext cx="749808" cy="74980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44652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1109441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>
                <a:solidFill>
                  <a:srgbClr val="64748B"/>
                </a:solidFill>
                <a:latin typeface="Segoe UI"/>
              </a:defRPr>
            </a:pPr>
            <a:r>
              <a:t>SafetyHub | ICAPP  •  نظام إدارة السلامة والصحة المهنية والبيئة  •  شريحة 26 من 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280160"/>
            <a:ext cx="3474720" cy="4846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0" y="1280160"/>
            <a:ext cx="3474720" cy="438912"/>
          </a:xfrm>
          <a:prstGeom prst="roundRect">
            <a:avLst/>
          </a:prstGeom>
          <a:solidFill>
            <a:srgbClr val="109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1. العوائد والمكتسبات التشغيلية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خفض معدلات الحوادث والإصابات المقعدة بنسبة قياسية.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توفير أكثر من 85% من أوقات التوثيق والأعمال الورقية الميدانية.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تسريع دورات اعتماد تصاريح العمل من ساعات إلى دقائق معدودة.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حوكمة تامة لعمليات المقاولين وأمن البوابات والزوار.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جاهزية مستمرة بنسبة 100% لكافة تدقيقات وتفتيشات الآيزو والدفاع المدني.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الأثر: كفاءة تشغيلية غير مسبوقة وثقافة سلامة راسخة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280160"/>
            <a:ext cx="3474720" cy="484632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389120" y="1280160"/>
            <a:ext cx="3474720" cy="43891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2. الركائز المستقبلية والتطوير المستمر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التكامل المباشر مع كاميرات المراقبة الذكية لرصد عدم ارتداء PPE.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توسيع نماذج التنبؤ بالمخاطر عبر الذكاء الاصطناعي التوليدي.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إطلاق تطبيقات الهواتف الذكية المخصصة (Native iOS &amp; Android).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ربط المنظومة بالأجهزة القابلة للارتداء (IoT Sensors) للعمال.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التحديث المستمر لمواكبة أحدث المعايير الهندسية والبيئية العالمية.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المستقبل: ابتكار مستمر وتوظيف دائم لأحدث التقنيات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280160"/>
            <a:ext cx="3474720" cy="4846320"/>
          </a:xfrm>
          <a:prstGeom prst="roundRect">
            <a:avLst/>
          </a:prstGeom>
          <a:solidFill>
            <a:srgbClr val="EBF4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1280160"/>
            <a:ext cx="3474720" cy="438912"/>
          </a:xfrm>
          <a:prstGeom prst="round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1316736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3. الدعم الفني وقنوات التواصل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792224"/>
            <a:ext cx="3200400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نظام دعم فني مباشر ومتابعة مستمرة لأي استفسارات أو تطويرات.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فريق السلامة والصحة المهنية — شركة ICAPP.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مدير المنظومة: م. ياسر دياب (Yasser Diab).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البريد الإلكتروني: Yasser.diab@icapp.com.eg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تواصل مباشر عبر Microsoft Teams ودعم فني متاح دائماً.</a:t>
            </a:r>
          </a:p>
          <a:p>
            <a:pPr algn="r">
              <a:spcAft>
                <a:spcPts val="400"/>
              </a:spcAft>
              <a:defRPr sz="1050">
                <a:solidFill>
                  <a:srgbClr val="0F172A"/>
                </a:solidFill>
                <a:latin typeface="Segoe UI"/>
              </a:defRPr>
            </a:pPr>
            <a:r>
              <a:t>• نظام SafetyHub | ICAPP — صُمم وطُوّر لسلامة أغلى ما نملك: الإنسان.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742432"/>
            <a:ext cx="3108960" cy="292608"/>
          </a:xfrm>
          <a:prstGeom prst="roundRect">
            <a:avLst/>
          </a:prstGeom>
          <a:solidFill>
            <a:srgbClr val="EBF4FF"/>
          </a:solidFill>
          <a:ln w="9525">
            <a:solidFill>
              <a:srgbClr val="1E8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A2540"/>
                </a:solidFill>
                <a:latin typeface="Segoe UI"/>
              </a:defRPr>
            </a:pPr>
            <a:r>
              <a:t>التواصل: شراكة دائمة لدعم السلامة والتميز في العمل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