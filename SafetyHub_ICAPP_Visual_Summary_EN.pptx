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00584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240280"/>
            <a:ext cx="103628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SafetyHub | ICAPP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7DD3FC"/>
                </a:solidFill>
                <a:latin typeface="Segoe UI"/>
              </a:defRPr>
            </a:pPr>
            <a:r>
              <a:t>Executive Visual Presentation &amp; Live Database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E2E8F0"/>
                </a:solidFill>
                <a:latin typeface="Segoe UI"/>
              </a:defRPr>
            </a:pPr>
            <a:r>
              <a:t>International Company for Agricultural Production &amp; Processing (ICAPP) • Real Operational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663440"/>
            <a:ext cx="2468880" cy="502920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📊 1,654 Digital PTWs Issued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4663440"/>
            <a:ext cx="2468880" cy="502920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📋 3,113 Field Observations Logged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663440"/>
            <a:ext cx="2468880" cy="502920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🏥 1,029 Clinic Visits Tracked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4663440"/>
            <a:ext cx="2468880" cy="502920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🔒 41,744 Security Logs Audited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HSE &amp; Environmental Management Department — ICAPP • Production Data Validated ©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Authentication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Secure Login Portal &amp; Two-Factor Authentication (2FA)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Enterprise-grade authentication with SHA-256 encryption &amp; role-based access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2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Login Portal Key Capabilities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Secure institutional login with SHA-256 password hashing.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Two-Factor Authentication (2FA/MFA) via Google Authenticator.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Quick PIN-code access option for fast on-site field inspections.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Instant Arabic / English toggle with automatic RTL/LTR adjustment.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Comprehensive cyber audit trail with 41,744 logged security events.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Security: Robust cyber defense safeguarding corporate assets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02_login_2fa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41,744 security audit records in SecurityAuditLog.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6,470 user activity transactions in UserActivityLog.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Automatic session timeout and encrypted token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Executive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Real-Time Executive Safety Analytics &amp; 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24/7 centralized operational visibility into health, safety, and environment metrics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3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Dashboard Core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Live metric cards: Safe working man-hours, active permits, and open items.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Tracking 57 official Safety Performance KPIs (TRIR, LTIFR, Severity).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Interactive analytics mapping risks across 132 registered factory locations.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Smart alert center monitoring critical conditions and overdue inspections.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One-click quick actions to initiate permits, log observations, or report hazards.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Impact: Real-time intelligence empowering proactive hazard elimination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03_dashboard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57 official HSE KPIs monitored in SafetyPerformanceKPIs.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132 distinct operational facility locations in Form_Places.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Live reactive data stream without manual page refresh.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Critical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Electronic Permit to Work System (e-PTW)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Strict digital governance over high-risk hazardous industrial operations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4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Permit to Work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1,654 digital work permits issued and archived in the active PTW database.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1,941 lifecycle transaction records logged in the master PTWRegistry.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Authorized signatory network: 63 internal authorities &amp; 29 contractor authorities.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Coverage: Hot Work, Confined Space, Working at Height, and Electrical LOTO.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Encrypted digital signatures with instant QR Code validation for site patrols.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Outcome: 1,654 digital permits successfully executed with zero severe incidents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04_ptw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1,654 electronic permits recorded in PTW table.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1,941 transactions in PTWRegistry master log.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63 internal + 29 contractor certified issuing authorities.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Incident 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Incident Management &amp; Root Cause Analysis (RCA)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Systematic incident reporting and deep RCA preventing recurrence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5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Incident Management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Instant field logging with evidence photo upload and injury classification.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Integrated investigation tools: 5-Whys methodology and Ishikawa Fishbone.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Deep causal factor analysis: Human, Machine, Method, Environment, Material.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Connected to the central Action Tracking Register (262 corrective actions).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Automated Safety Alerts dissemination to prevent similar events across sites.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Impact: Root causes resolved permanently to eliminate injury recurrence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05_incidents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Direct integration with central ATR tracking 262 actions.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Direct link between incident records and medical clinic.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Compliant documentation for labor authorities &amp; insurers.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Proactive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Near-Miss Reporting &amp; Hazard Identification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Capturing early warning signals to eliminate hazards before incidents occur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6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Near-Miss Reporting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Simplified mobile interface encouraging frontline employees to report freely.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Potential risk severity categorization for prioritized corrective actions.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Confidential reporting option building trust and transparent reporting culture.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Departmental trend analytics to focus protective resources effectively.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Recognition programs rewarding proactive employees identifying severe hazards.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Philosophy: Every resolved near-miss is a serious accident prevented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06_nearmiss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Direct assignment of near-miss items into supervisor tasks.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Direct camera capture attachment from mobile devices.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Real-time SLA tracking for on-time hazard resolution.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Occupational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Medical Clinic &amp; Health Surveillance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Secure digital medical records and employee health monitoring programs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7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Medical Clinic Capabilities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1,029 documented clinic visits recorded in ClinicContractorVisits.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573 medical dispensing transactions tracked in MedicationDispenseLog.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187 medical staff attendance shifts recorded in ClinicStaffAttendance.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Documentation of sick leaves, occupational treatments, and lost workdays.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Periodic fitness examinations for food handlers and chemical operators.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Care: 1,029 clinic visits &amp; 573 medication dispenses tracked digitally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07_clinic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1,029 clinic examinations in ClinicContractorVisits.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573 medication dispenses in MedicationDispenseLog.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187 healthcare shifts logged in ClinicStaffAttendance.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Fire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Fire Fighting &amp; Emergency Equipment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Guaranteed 100% operational readiness for all fire suppression assets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8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Fire Assets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169 certified fire protection assets registered in FireEquipmentAssets.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26 formal periodic inspection cycles completed in FireEquipmentInspections.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High-speed field inspections via mobile QR Code scanning on every unit.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Verification of pressure gauges, seal integrity, discharge hoses, and powder.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Automated alerts for periodic hydrostatic pressure testing and cylinder refilling.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Readiness: 169 fire assets inspected and mapped across the complex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08_fire_equipment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169 firefighting equipment units in FireEquipmentAssets.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26 complete inspection cycles in FireEquipmentInspections.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100% compliance with Civil Defense emergency standards.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Partners &amp; Site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Contractors Management &amp; Gate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External workforce governance and rigorous perimeter access control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9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Contractor &amp; Gate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1,736 contractor workers inducted and certified in ContractorTrainings.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194 contractor approval requests &amp; 56 performance evaluation requests.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Blacklist register containing 13 non-compliant vendors in Blacklist_Register.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29 gate visitor &amp; commercial vehicle movements recorded in GateVisitors.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Live headcount tracking showing exactly who is inside the facility 24/7.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Governance: 1,736 contractor staff trained &amp; 194 approval requests governed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09_contractors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1,736 contractor workers certified in ContractorTrainings.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194 formal contractor approvals in ContractorApprovalRequests.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13 non-compliant parties blacklisted to protect site safety.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Personal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PPE Management &amp; Digital Inventory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The vital last line of defense with rationalized allocation and stock control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10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PPE Governance &amp;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162 PPE inventory items managed with 105 transactions in PPE_Transactions.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Role-specific PPE requirement matrices covering 12 departments in PPEMatrix.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Enforced lifespan policies preventing redundant or unjustified re-issuance.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Real-time warehouse stock tracking with minimum reorder threshold alerts.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Digital employee sign-off acknowledging receipt and mandatory daily wear.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Optimization: 162 equipment items &amp; 105 issuance logs tracked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10_ppe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162 PPE items recorded in the central PPE catalog.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105 issuance transactions in PPE_Transactions.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12 job hazard eligibility matrices in PPEMatrix.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Hazardous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Chemical Safety &amp; Safety Data Sheets (MSDS/SDS)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Comprehensive hazard control, safe storage, and chemical spill readiness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11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Chemical Safety Protocols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Central inventory of all chemicals registered in Chemical_Register with CAS numbers.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Bilingual digital repository of Material Safety Data Sheets (MSDS) with quick search.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Chemical incompatibility matrix preventing hazardous co-storage reactions.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Instant emergency medical protocols and mandatory specialized PPE directives.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Spill containment strategy with secondary containment and specialized Spill Kits.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Protection: Safeguarding personnel and agricultural environment from toxicity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11_chemical_safety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Formal chemical register managed in Chemical_Register.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GHS standardized visual hazard pictograms and labeling.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Weekly verification of emergency eye-wash and safety shower stations.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Periodic Inspections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Periodic Inspections &amp; Equipment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Preventive maintenance ensuring integrity of machinery, cranes, and electrics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12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Inspection Scope &amp;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Scheduled inspections logged in PeriodicEquipmentInspections.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Standardized smart checklists aligned with international engineering codes.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Mandatory photographic evidence for any defective or non-compliant item.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Automated translation of identified defects into maintenance work orders.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Asset historical maintenance record tracking recurrent failures and costs.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Reliability: Eliminating catastrophic breakdowns and maintaining plant uptime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12_periodic_inspections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Formal machinery inspection records in PeriodicInspections.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Scheduled checkups for forklifts, boilers, and power distribution.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Automated work order dispatch to maintenance engineers.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Disciplinary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Safety Violations Management &amp; Enforced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Fair and firm enforcement of safety rules fostering an accountable culture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13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Violation Governance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154 verified safety violation incidents recorded in Violations table.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73 violation approval and review requests processed in ViolationApprovalRequests.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36 standardized violation types cataloged in ViolationTypes.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Transparent progressive disciplinary ladder: Verbal -&gt; Written -&gt; Suspension -&gt; Penalty.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Integration of violation history into annual staff and contractor scorecards.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Accountability: 154 violations &amp; 73 formal reviews resolved transparently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13_violations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154 field violation incidents logged in Violations.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73 administrative reviews in ViolationApprovalRequests.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36 standard violation classifications in ViolationTypes.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Risk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Risk Assessment, 5x5 Matrix &amp; SOP/JHA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Proactive hazard identification applying the hierarchy of controls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14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Risk Assessment System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Interactive 5x5 Risk Matrix calculating probability and consequence severity.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Governance of 40 legal compliance registers cataloged in LegalDocuments.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Job Hazard Analysis (JHA/JSA) breaking jobs into steps with safe controls.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Standard Operating Procedures (SOP) digital repository for all machinery.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Hierarchy of controls: Elimination -&gt; Substitution -&gt; Engineering -&gt; Admin -&gt; PPE.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Proactivity: Controlling operational risks &amp; maintaining 40 legal registers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14_risk_assessment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40 verified statutory compliance registers in LegalDocuments.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Direct linkage between high risk activities and work permits.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Clear visual safety instructions easily understood by frontline staff.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Competency &amp;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Safety Training Management &amp; Induction Programs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Empowering the workforce through structured, measurable safety education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15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Training &amp; Knowledge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439 internal safety training sessions documented in Training table.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1,027 employee attendances recorded + 1,736 contractor worker trainings.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Competency matrices covering 158 roles in EmployeeTrainingMatrix.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Digital certificates generated with authenticable verification QR codes.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Extensive Toolbox Talks (TBT) library providing daily pre-shift topics.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Competency: 439 training courses &amp; 2,763 trainees certified in database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15_training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439 in-house training courses in Training table.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1,027 employee records in TrainingAttendance + 1,736 contractors.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158 occupational training profiles in EmployeeTrainingMatrix.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Field Forms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Daily Safety Observations &amp; Mobile Forms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Empowering field supervisors with mobile, offline-capable digital forms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16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Mobile Field Forms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3,113 daily field safety observations captured in DailyObservations.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813 daily safety checklists completed on-site in DailySafetyCheckList.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Touch-friendly mobile interface operational with 100% offline-first capability.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Centralized observation dashboard monitoring open, in-progress, and closed items.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Mandatory photographic evidence of rectification before observation sign-off.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Agility: 3,113 observations &amp; 813 inspection checklists logged digitally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16_forms_hub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3,113 observation reports in DailyObservations.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813 completed checklists in DailySafetyCheckList.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Zero data loss in remote crop fields with automatic cloud synchronization.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Sustainability &amp; MoC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Environmental Sustainability, MoC &amp; HSE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Strategic stewardship protecting resources, governing change, and ROI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17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Sustainability &amp; Change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Comprehensive tracking of Water, Electricity, and Natural Gas consumption.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13 regulated waste categories tracked in WasteManagement_RegularWasteTyp.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Management of Change (MoC) requests formally governed in ChangeRequests.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HSE budget purchase orders and allocations in SafetyBudgetPurchaseOrders.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Certified sustainability reporting meeting European export standards.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Sustainability: 13 regulated waste types &amp; complete utility monitoring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17_sustainability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13 regulated waste streams in WasteManagement_RegularWasteTyp.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Continuous metering of electrical, water, and natural gas consumption.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Formal engineering review in ChangeRequests.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Generative AI Assistant Powered by Gemini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Leveraging state-of-the-art AI for real-time safety reasoning and analysis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18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AI Assistant Core Strengths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101 AI analytical queries and consultation sessions in UserAILog.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Instant safety advisor answering queries aligned with OSHA, NFPA, and ISO.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Intelligent incident narrative analysis extracting root causes and proposing CAPA.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Automated drafting and review of Job Hazard Analyses (JHA) and safety SOPs.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Rapid technical translation of complex chemical data and safety standards.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Innovation: 101 AI safety consultations executed with high precision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18_ai_assistant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101 AI interactions logged in UserAILog.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Full bilingual support for Arabic and English technical queries.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Strict enterprise privacy ensuring internal reports remain confidential.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Conclusion &amp; 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Executive Value Summary &amp; Implementation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CBD5E1"/>
                </a:solidFill>
                <a:latin typeface="Segoe UI"/>
              </a:defRPr>
            </a:pPr>
            <a:r>
              <a:t>A long-term partnership driving a zero-harm, sustainable workplace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HSE Management System  •  Slide 19 of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Major SafetyHub Achievements with Real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1,654 work permits executed 100% digitally with zero severe lost time injuries.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3,113 daily observations &amp; 813 inspection checklists logged paperlessly.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2,763 employees and contractor staff certified through 439 training programs.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262 corrective actions tracked and resolved in the Action Tracking Register.</a:t>
            </a:r>
          </a:p>
          <a:p>
            <a:pPr algn="l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Enterprise cyber resilience guaranteed by 41,744 logged security audit events.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SafetyHub | ICAPP — Protecting People, Powering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Live System Screenshot</a:t>
            </a:r>
          </a:p>
        </p:txBody>
      </p:sp>
      <p:pic>
        <p:nvPicPr>
          <p:cNvPr id="19" name="Picture 18" descr="03_dashboard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4652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Real Database Metrics &amp; Field Facts: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System Administrator: Eng. Yasser Diab.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Contact Email: Yasser.diab@icapp.com.eg</a:t>
            </a:r>
          </a:p>
          <a:p>
            <a:pPr algn="l">
              <a:defRPr sz="919">
                <a:solidFill>
                  <a:srgbClr val="0F172A"/>
                </a:solidFill>
                <a:latin typeface="Segoe UI"/>
              </a:defRPr>
            </a:pPr>
            <a:r>
              <a:t>✔ Direct Microsoft Teams support &amp; ongoing innovation with HSEHub360.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